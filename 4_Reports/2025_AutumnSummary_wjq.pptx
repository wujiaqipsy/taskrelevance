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Lst>
  <p:notesMasterIdLst>
    <p:notesMasterId r:id="rId14"/>
  </p:notesMasterIdLst>
  <p:sldIdLst>
    <p:sldId id="298" r:id="rId3"/>
    <p:sldId id="304" r:id="rId4"/>
    <p:sldId id="256" r:id="rId5"/>
    <p:sldId id="303" r:id="rId6"/>
    <p:sldId id="311" r:id="rId7"/>
    <p:sldId id="306" r:id="rId8"/>
    <p:sldId id="312" r:id="rId9"/>
    <p:sldId id="313" r:id="rId10"/>
    <p:sldId id="307" r:id="rId11"/>
    <p:sldId id="314" r:id="rId12"/>
    <p:sldId id="315"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D1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198" autoAdjust="0"/>
  </p:normalViewPr>
  <p:slideViewPr>
    <p:cSldViewPr snapToGrid="0" showGuides="1">
      <p:cViewPr varScale="1">
        <p:scale>
          <a:sx n="84" d="100"/>
          <a:sy n="84" d="100"/>
        </p:scale>
        <p:origin x="800" y="60"/>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DFBBD7-9283-4C49-8316-22130DABA4DF}" type="datetimeFigureOut">
              <a:rPr lang="zh-CN" altLang="en-US" smtClean="0"/>
              <a:t>2026/1/18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721C67-7CF2-4365-9654-A803E7E3626D}" type="slidenum">
              <a:rPr lang="zh-CN" altLang="en-US" smtClean="0"/>
              <a:t>‹#›</a:t>
            </a:fld>
            <a:endParaRPr lang="zh-CN" altLang="en-US"/>
          </a:p>
        </p:txBody>
      </p:sp>
    </p:spTree>
    <p:extLst>
      <p:ext uri="{BB962C8B-B14F-4D97-AF65-F5344CB8AC3E}">
        <p14:creationId xmlns:p14="http://schemas.microsoft.com/office/powerpoint/2010/main" val="1541032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721C67-7CF2-4365-9654-A803E7E3626D}" type="slidenum">
              <a:rPr lang="zh-CN" altLang="en-US" smtClean="0"/>
              <a:t>1</a:t>
            </a:fld>
            <a:endParaRPr lang="zh-CN" altLang="en-US"/>
          </a:p>
        </p:txBody>
      </p:sp>
    </p:spTree>
    <p:extLst>
      <p:ext uri="{BB962C8B-B14F-4D97-AF65-F5344CB8AC3E}">
        <p14:creationId xmlns:p14="http://schemas.microsoft.com/office/powerpoint/2010/main" val="3078160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为什么要做这个项目呢？</a:t>
            </a:r>
            <a:endParaRPr lang="en-US" altLang="zh-CN" dirty="0"/>
          </a:p>
          <a:p>
            <a:r>
              <a:rPr lang="zh-CN" altLang="en-US" dirty="0"/>
              <a:t>主要的研究背景在于，</a:t>
            </a:r>
            <a:r>
              <a:rPr lang="zh-CN" altLang="en-US" sz="1200" kern="1200" dirty="0">
                <a:solidFill>
                  <a:schemeClr val="tx1"/>
                </a:solidFill>
                <a:effectLst/>
                <a:latin typeface="+mn-lt"/>
                <a:ea typeface="+mn-ea"/>
                <a:cs typeface="+mn-cs"/>
              </a:rPr>
              <a:t>关于</a:t>
            </a:r>
            <a:r>
              <a:rPr lang="zh-CN" altLang="zh-CN" sz="1200" kern="1200" dirty="0">
                <a:solidFill>
                  <a:schemeClr val="tx1"/>
                </a:solidFill>
                <a:effectLst/>
                <a:latin typeface="+mn-lt"/>
                <a:ea typeface="+mn-ea"/>
                <a:cs typeface="+mn-cs"/>
              </a:rPr>
              <a:t>自我优势效应何时出现存在争议，有研究认为自我优势自动产生，有研究认为自我优势</a:t>
            </a:r>
            <a:r>
              <a:rPr lang="zh-CN" altLang="en-US" sz="1200" kern="1200" dirty="0">
                <a:solidFill>
                  <a:schemeClr val="tx1"/>
                </a:solidFill>
                <a:effectLst/>
                <a:latin typeface="+mn-lt"/>
                <a:ea typeface="+mn-ea"/>
                <a:cs typeface="+mn-cs"/>
              </a:rPr>
              <a:t>的产生</a:t>
            </a:r>
            <a:r>
              <a:rPr lang="zh-CN" altLang="zh-CN" sz="1200" kern="1200" dirty="0">
                <a:solidFill>
                  <a:schemeClr val="tx1"/>
                </a:solidFill>
                <a:effectLst/>
                <a:latin typeface="+mn-lt"/>
                <a:ea typeface="+mn-ea"/>
                <a:cs typeface="+mn-cs"/>
              </a:rPr>
              <a:t>依赖于自我与任务的相关性。</a:t>
            </a:r>
            <a:r>
              <a:rPr lang="zh-CN" altLang="en-US" sz="1200" kern="1200" dirty="0">
                <a:solidFill>
                  <a:schemeClr val="tx1"/>
                </a:solidFill>
                <a:effectLst/>
                <a:latin typeface="+mn-lt"/>
                <a:ea typeface="+mn-ea"/>
                <a:cs typeface="+mn-cs"/>
              </a:rPr>
              <a:t>所以我们这个项目就是去验证任务相关性是否会调节自我优势效应，从而去回答自我优势效应是自下而上加工还是自上而下加工的。</a:t>
            </a:r>
            <a:endParaRPr lang="en-US" altLang="zh-CN" dirty="0"/>
          </a:p>
          <a:p>
            <a:r>
              <a:rPr lang="zh-CN" altLang="en-US" dirty="0"/>
              <a:t>为了研究这个问题，设置了三项实验。实验</a:t>
            </a:r>
            <a:r>
              <a:rPr lang="en-US" altLang="zh-CN" dirty="0"/>
              <a:t>1</a:t>
            </a:r>
            <a:r>
              <a:rPr lang="zh-CN" altLang="en-US" dirty="0"/>
              <a:t>是在自我与任务有关的情况下，探究自我作为任务目标与非任务目标时的</a:t>
            </a:r>
            <a:r>
              <a:rPr lang="en-US" altLang="zh-CN" dirty="0"/>
              <a:t>SPE</a:t>
            </a:r>
            <a:r>
              <a:rPr lang="zh-CN" altLang="en-US" dirty="0"/>
              <a:t>；由于实验</a:t>
            </a:r>
            <a:r>
              <a:rPr lang="en-US" altLang="zh-CN" dirty="0"/>
              <a:t>1</a:t>
            </a:r>
            <a:r>
              <a:rPr lang="zh-CN" altLang="en-US" dirty="0"/>
              <a:t>中，自我不是任务目标时，完成任务需要抑制自我信息加工，从而不会表现出自我加工优势，于是在实验</a:t>
            </a:r>
            <a:r>
              <a:rPr lang="en-US" altLang="zh-CN" dirty="0"/>
              <a:t>2</a:t>
            </a:r>
            <a:r>
              <a:rPr lang="zh-CN" altLang="en-US" dirty="0"/>
              <a:t>中，我们设置了自我与任务目标无关的任务，完成任务不需要抑制自我信息，旨在检验当自我与任务无关时是否会出现自我优势效应，进而探究自我与任务的相关性对自我优势效应的影响。实验</a:t>
            </a:r>
            <a:r>
              <a:rPr lang="en-US" altLang="zh-CN" dirty="0"/>
              <a:t>1</a:t>
            </a:r>
            <a:r>
              <a:rPr lang="zh-CN" altLang="en-US" dirty="0"/>
              <a:t>和实验</a:t>
            </a:r>
            <a:r>
              <a:rPr lang="en-US" altLang="zh-CN" dirty="0"/>
              <a:t>2</a:t>
            </a:r>
            <a:r>
              <a:rPr lang="zh-CN" altLang="en-US" dirty="0"/>
              <a:t>均是在认知资源充足的情况下检验任务相关性对自我优势效应的影响，实验</a:t>
            </a:r>
            <a:r>
              <a:rPr lang="en-US" altLang="zh-CN" dirty="0"/>
              <a:t>3</a:t>
            </a:r>
            <a:r>
              <a:rPr lang="zh-CN" altLang="en-US" dirty="0"/>
              <a:t>引入了认知资源匮乏场景，旨在探究不同认知负荷下，任务相关性对自我优势效应的影响。</a:t>
            </a:r>
          </a:p>
        </p:txBody>
      </p:sp>
      <p:sp>
        <p:nvSpPr>
          <p:cNvPr id="4" name="灯片编号占位符 3"/>
          <p:cNvSpPr>
            <a:spLocks noGrp="1"/>
          </p:cNvSpPr>
          <p:nvPr>
            <p:ph type="sldNum" sz="quarter" idx="5"/>
          </p:nvPr>
        </p:nvSpPr>
        <p:spPr/>
        <p:txBody>
          <a:bodyPr/>
          <a:lstStyle/>
          <a:p>
            <a:fld id="{35721C67-7CF2-4365-9654-A803E7E3626D}" type="slidenum">
              <a:rPr lang="zh-CN" altLang="en-US" smtClean="0"/>
              <a:t>3</a:t>
            </a:fld>
            <a:endParaRPr lang="zh-CN" altLang="en-US"/>
          </a:p>
        </p:txBody>
      </p:sp>
    </p:spTree>
    <p:extLst>
      <p:ext uri="{BB962C8B-B14F-4D97-AF65-F5344CB8AC3E}">
        <p14:creationId xmlns:p14="http://schemas.microsoft.com/office/powerpoint/2010/main" val="1673862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7B0E1-49BF-0476-1380-D05A2BA76B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02B0A7-22AD-5CC3-D69B-3557C02E88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EBD0A1-C7E8-1621-6A57-E66C3EECD68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7450D45-0EAC-69E6-079D-9DADF51AF9CF}"/>
              </a:ext>
            </a:extLst>
          </p:cNvPr>
          <p:cNvSpPr>
            <a:spLocks noGrp="1"/>
          </p:cNvSpPr>
          <p:nvPr>
            <p:ph type="sldNum" sz="quarter" idx="5"/>
          </p:nvPr>
        </p:nvSpPr>
        <p:spPr/>
        <p:txBody>
          <a:bodyPr/>
          <a:lstStyle/>
          <a:p>
            <a:fld id="{35721C67-7CF2-4365-9654-A803E7E3626D}" type="slidenum">
              <a:rPr lang="zh-CN" altLang="en-US" smtClean="0"/>
              <a:t>5</a:t>
            </a:fld>
            <a:endParaRPr lang="zh-CN" altLang="en-US"/>
          </a:p>
        </p:txBody>
      </p:sp>
    </p:spTree>
    <p:extLst>
      <p:ext uri="{BB962C8B-B14F-4D97-AF65-F5344CB8AC3E}">
        <p14:creationId xmlns:p14="http://schemas.microsoft.com/office/powerpoint/2010/main" val="3766367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D7195-3812-381C-3992-2DB5BC34D4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EBC788-4545-7BDD-C475-4086C21DC6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D438C12-839F-A3BC-C63D-CDA401DB102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1ACD635-6467-FB26-6DD6-C5A9F94F42A8}"/>
              </a:ext>
            </a:extLst>
          </p:cNvPr>
          <p:cNvSpPr>
            <a:spLocks noGrp="1"/>
          </p:cNvSpPr>
          <p:nvPr>
            <p:ph type="sldNum" sz="quarter" idx="5"/>
          </p:nvPr>
        </p:nvSpPr>
        <p:spPr/>
        <p:txBody>
          <a:bodyPr/>
          <a:lstStyle/>
          <a:p>
            <a:fld id="{35721C67-7CF2-4365-9654-A803E7E3626D}" type="slidenum">
              <a:rPr lang="zh-CN" altLang="en-US" smtClean="0"/>
              <a:t>10</a:t>
            </a:fld>
            <a:endParaRPr lang="zh-CN" altLang="en-US"/>
          </a:p>
        </p:txBody>
      </p:sp>
    </p:spTree>
    <p:extLst>
      <p:ext uri="{BB962C8B-B14F-4D97-AF65-F5344CB8AC3E}">
        <p14:creationId xmlns:p14="http://schemas.microsoft.com/office/powerpoint/2010/main" val="1837686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2.xml"/><Relationship Id="rId5" Type="http://schemas.openxmlformats.org/officeDocument/2006/relationships/tags" Target="../tags/tag11.xml"/><Relationship Id="rId4" Type="http://schemas.openxmlformats.org/officeDocument/2006/relationships/tags" Target="../tags/tag10.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2.xml"/><Relationship Id="rId5" Type="http://schemas.openxmlformats.org/officeDocument/2006/relationships/tags" Target="../tags/tag16.xml"/><Relationship Id="rId4"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2.xml"/><Relationship Id="rId5" Type="http://schemas.openxmlformats.org/officeDocument/2006/relationships/tags" Target="../tags/tag21.xml"/><Relationship Id="rId4" Type="http://schemas.openxmlformats.org/officeDocument/2006/relationships/tags" Target="../tags/tag20.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2.xml"/><Relationship Id="rId4" Type="http://schemas.openxmlformats.org/officeDocument/2006/relationships/tags" Target="../tags/tag3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2.xml"/><Relationship Id="rId5" Type="http://schemas.openxmlformats.org/officeDocument/2006/relationships/tags" Target="../tags/tag53.xml"/><Relationship Id="rId4" Type="http://schemas.openxmlformats.org/officeDocument/2006/relationships/tags" Target="../tags/tag5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2.xml"/><Relationship Id="rId4" Type="http://schemas.openxmlformats.org/officeDocument/2006/relationships/tags" Target="../tags/tag57.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2.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475A75-F735-525E-EBBE-BC6F8A20BC1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5AB8048-EC91-7475-6BF1-09350D1D97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6BF8411-8241-F641-939B-D62EF0CBAA4C}"/>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44C09C32-C8CE-458A-C606-83DD65D840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92EF2FF-802C-BE94-16FB-581C69DC8C69}"/>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4270578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7FB190-B25F-AB9A-79C5-4FE514067CA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5BD0C3-874C-7E4F-61F1-1D6BD290E8C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9F95414-881F-32D8-111F-442A1943CF17}"/>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1B798B72-6D3D-00F2-4CA7-8F3D2E6CD71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284DB2-7F11-5410-C5E3-DF3B805F3597}"/>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967836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355FA6-2107-54EA-2037-1A7BFF77F00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EBF674-7CCD-35F8-F970-0B9F6575E3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19DE1EF-3DA1-2836-44B7-50272DAD9850}"/>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1D6851AD-58BB-BFBB-BA34-F86296533C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E40E7E-9051-F978-F9D2-FFA53EE2E23C}"/>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410546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F148F8-3119-B7F6-E761-0040780026D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296B046-D0CE-902B-EF5A-EB165963CBD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8904753-0EB9-1AC2-F322-D790E4CE3DC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1662DFF-AB1E-8988-0CBB-64F321A00D5E}"/>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6" name="页脚占位符 5">
            <a:extLst>
              <a:ext uri="{FF2B5EF4-FFF2-40B4-BE49-F238E27FC236}">
                <a16:creationId xmlns:a16="http://schemas.microsoft.com/office/drawing/2014/main" id="{3D05C371-9E05-61FF-49DC-1BD294B4A20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F3B29E7-48C1-BFD7-63D8-BF878B3A1FE9}"/>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252123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C03EB8-6AD9-E3AC-1ADA-E27B724608C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DF33893-16FC-E55D-F94A-A288B320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8ABE72D-82FD-B86F-67E8-E592794A1FD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9F8179B-837D-99D3-90DC-D4ECA5D5F6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DE4B61C-C428-766B-C29B-829B6D6FFBD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793FCFA-FDF9-4EF2-A6C2-E63957B72E13}"/>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8" name="页脚占位符 7">
            <a:extLst>
              <a:ext uri="{FF2B5EF4-FFF2-40B4-BE49-F238E27FC236}">
                <a16:creationId xmlns:a16="http://schemas.microsoft.com/office/drawing/2014/main" id="{7584364E-7C6A-94B7-21C4-43501874E8B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48BE5BA-9A08-972A-7768-C2B5993C557B}"/>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9356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443274-7653-BD86-BD3D-5D91CEDB9CA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8D1F527-9B8E-9324-6F84-E49F3A06DC39}"/>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4" name="页脚占位符 3">
            <a:extLst>
              <a:ext uri="{FF2B5EF4-FFF2-40B4-BE49-F238E27FC236}">
                <a16:creationId xmlns:a16="http://schemas.microsoft.com/office/drawing/2014/main" id="{6B6434B8-7ECE-CA2A-8CF1-71F7556831F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7CF07E1-21CF-DF11-DADB-A70D64F4A3A4}"/>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2558104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4D17648-7862-3A41-E04E-53A171D0F7F2}"/>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3" name="页脚占位符 2">
            <a:extLst>
              <a:ext uri="{FF2B5EF4-FFF2-40B4-BE49-F238E27FC236}">
                <a16:creationId xmlns:a16="http://schemas.microsoft.com/office/drawing/2014/main" id="{3CBA134C-6AD7-A51C-5FD8-5B7B1269E3B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8E43484-0BBE-9925-C3F9-405F37D2B60F}"/>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834185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86B084-1450-58E6-5369-FC2B8B512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66C9DE2-7F5D-BEA1-8D89-6F4C060E06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161878F-48E5-2E7A-C2B2-6239B6845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9558888-6747-B475-4DD3-77B520902EFB}"/>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6" name="页脚占位符 5">
            <a:extLst>
              <a:ext uri="{FF2B5EF4-FFF2-40B4-BE49-F238E27FC236}">
                <a16:creationId xmlns:a16="http://schemas.microsoft.com/office/drawing/2014/main" id="{ED913DB6-780C-EC30-82B5-3FFCFDB164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1B111DD-84E6-D4CD-9938-99D126A688F6}"/>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772745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C0D49D-F349-C601-6C0B-9F556208254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7E61963-A4F4-0239-042C-DC0B346FE3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1581CCD-B7F8-BB12-E3E1-FAB24FB08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BDE4E9C-874E-2AC3-2EDC-63EEA8F02A66}"/>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6" name="页脚占位符 5">
            <a:extLst>
              <a:ext uri="{FF2B5EF4-FFF2-40B4-BE49-F238E27FC236}">
                <a16:creationId xmlns:a16="http://schemas.microsoft.com/office/drawing/2014/main" id="{5742C24F-AE0E-B95A-A8A4-62C05DE3564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4185599-35EF-287C-74A8-5F8775D168F4}"/>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538394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887587-466A-1CEF-6B10-5B44639F27B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5728DA0-B1E2-E1BE-F7C7-BB38E30FEB8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D28964-4E4F-4301-7719-C64AE84B6016}"/>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E0794DAC-FD44-2800-8518-0E27CE75942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3A6381-3CA7-8226-35DF-213BE72A7BEB}"/>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098338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808DE09-DB5A-9722-77D9-D2F497C33D5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370CCDB-8E0C-E23E-2967-3FF34114877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2C3ECC-4789-443D-0E7A-BE18575D85E0}"/>
              </a:ext>
            </a:extLst>
          </p:cNvPr>
          <p:cNvSpPr>
            <a:spLocks noGrp="1"/>
          </p:cNvSpPr>
          <p:nvPr>
            <p:ph type="dt" sz="half" idx="10"/>
          </p:nvPr>
        </p:nvSpPr>
        <p:spPr/>
        <p:txBody>
          <a:body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46CF5664-E320-C7FF-9153-C36EABC80D1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FFB72A-0EFD-2B07-6AD5-2D96FF1C5092}"/>
              </a:ext>
            </a:extLst>
          </p:cNvPr>
          <p:cNvSpPr>
            <a:spLocks noGrp="1"/>
          </p:cNvSpPr>
          <p:nvPr>
            <p:ph type="sldNum" sz="quarter" idx="12"/>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552985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997702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1309389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2210010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990FF5B7-8E42-494A-817E-7A75EF9ED1E8}" type="datetimeFigureOut">
              <a:rPr lang="zh-CN" altLang="en-US" smtClean="0"/>
              <a:t>2026/1/18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416703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990FF5B7-8E42-494A-817E-7A75EF9ED1E8}" type="datetimeFigureOut">
              <a:rPr lang="zh-CN" altLang="en-US" smtClean="0"/>
              <a:t>2026/1/18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999076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990FF5B7-8E42-494A-817E-7A75EF9ED1E8}" type="datetimeFigureOut">
              <a:rPr lang="zh-CN" altLang="en-US" smtClean="0"/>
              <a:t>2026/1/18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37572383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990FF5B7-8E42-494A-817E-7A75EF9ED1E8}" type="datetimeFigureOut">
              <a:rPr lang="zh-CN" altLang="en-US" smtClean="0"/>
              <a:t>2026/1/18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7976104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extLst>
      <p:ext uri="{BB962C8B-B14F-4D97-AF65-F5344CB8AC3E}">
        <p14:creationId xmlns:p14="http://schemas.microsoft.com/office/powerpoint/2010/main" val="41369116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990FF5B7-8E42-494A-817E-7A75EF9ED1E8}" type="datetimeFigureOut">
              <a:rPr lang="zh-CN" altLang="en-US" smtClean="0"/>
              <a:t>2026/1/18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685245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990FF5B7-8E42-494A-817E-7A75EF9ED1E8}" type="datetimeFigureOut">
              <a:rPr lang="zh-CN" altLang="en-US" smtClean="0"/>
              <a:t>2026/1/18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C33CEA0F-9451-499F-A37C-BBB83CFC7A69}"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4893437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990FF5B7-8E42-494A-817E-7A75EF9ED1E8}" type="datetimeFigureOut">
              <a:rPr lang="zh-CN" altLang="en-US" smtClean="0"/>
              <a:t>2026/1/18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C33CEA0F-9451-499F-A37C-BBB83CFC7A69}"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extLst>
      <p:ext uri="{BB962C8B-B14F-4D97-AF65-F5344CB8AC3E}">
        <p14:creationId xmlns:p14="http://schemas.microsoft.com/office/powerpoint/2010/main" val="2733589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5.xml"/><Relationship Id="rId2" Type="http://schemas.openxmlformats.org/officeDocument/2006/relationships/slideLayout" Target="../slideLayouts/slideLayout13.xml"/><Relationship Id="rId16" Type="http://schemas.openxmlformats.org/officeDocument/2006/relationships/tags" Target="../tags/tag4.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3.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DBCC3B8-306C-5AA2-062F-FFD3C4BA95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9594212-45F0-B482-BDEE-15DBE9676F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DB377B8-8462-CF10-64AB-43090B2DD6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0FF5B7-8E42-494A-817E-7A75EF9ED1E8}" type="datetimeFigureOut">
              <a:rPr lang="zh-CN" altLang="en-US" smtClean="0"/>
              <a:t>2026/1/18</a:t>
            </a:fld>
            <a:endParaRPr lang="zh-CN" altLang="en-US"/>
          </a:p>
        </p:txBody>
      </p:sp>
      <p:sp>
        <p:nvSpPr>
          <p:cNvPr id="5" name="页脚占位符 4">
            <a:extLst>
              <a:ext uri="{FF2B5EF4-FFF2-40B4-BE49-F238E27FC236}">
                <a16:creationId xmlns:a16="http://schemas.microsoft.com/office/drawing/2014/main" id="{0898F3E8-0FBE-54D5-B28C-A3B15F0336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5514CBE-E7B9-BF42-EA34-3D26527378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3CEA0F-9451-499F-A37C-BBB83CFC7A69}" type="slidenum">
              <a:rPr lang="zh-CN" altLang="en-US" smtClean="0"/>
              <a:t>‹#›</a:t>
            </a:fld>
            <a:endParaRPr lang="zh-CN" altLang="en-US"/>
          </a:p>
        </p:txBody>
      </p:sp>
    </p:spTree>
    <p:extLst>
      <p:ext uri="{BB962C8B-B14F-4D97-AF65-F5344CB8AC3E}">
        <p14:creationId xmlns:p14="http://schemas.microsoft.com/office/powerpoint/2010/main" val="675375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990FF5B7-8E42-494A-817E-7A75EF9ED1E8}" type="datetimeFigureOut">
              <a:rPr lang="zh-CN" altLang="en-US" smtClean="0"/>
              <a:t>2026/1/18</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C33CEA0F-9451-499F-A37C-BBB83CFC7A69}" type="slidenum">
              <a:rPr lang="zh-CN" altLang="en-US" smtClean="0"/>
              <a:t>‹#›</a:t>
            </a:fld>
            <a:endParaRPr lang="zh-CN" altLang="en-US"/>
          </a:p>
        </p:txBody>
      </p:sp>
    </p:spTree>
    <p:custDataLst>
      <p:tags r:id="rId13"/>
    </p:custDataLst>
    <p:extLst>
      <p:ext uri="{BB962C8B-B14F-4D97-AF65-F5344CB8AC3E}">
        <p14:creationId xmlns:p14="http://schemas.microsoft.com/office/powerpoint/2010/main" val="7886735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980249-68EC-754C-94D4-C4365A417350}"/>
              </a:ext>
            </a:extLst>
          </p:cNvPr>
          <p:cNvSpPr>
            <a:spLocks noGrp="1"/>
          </p:cNvSpPr>
          <p:nvPr>
            <p:ph type="title"/>
          </p:nvPr>
        </p:nvSpPr>
        <p:spPr>
          <a:xfrm>
            <a:off x="740410" y="863918"/>
            <a:ext cx="10515600" cy="2852737"/>
          </a:xfrm>
        </p:spPr>
        <p:txBody>
          <a:bodyPr/>
          <a:lstStyle/>
          <a:p>
            <a:r>
              <a:rPr lang="zh-CN" altLang="en-US" dirty="0">
                <a:latin typeface="微软雅黑" panose="020B0503020204020204" pitchFamily="34" charset="-122"/>
                <a:ea typeface="微软雅黑" panose="020B0503020204020204" pitchFamily="34" charset="-122"/>
              </a:rPr>
              <a:t>自我优势效应何时出现？</a:t>
            </a:r>
            <a:br>
              <a:rPr lang="zh-CN" altLang="en-US" dirty="0">
                <a:latin typeface="微软雅黑" panose="020B0503020204020204" pitchFamily="34" charset="-122"/>
                <a:ea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endParaRPr>
          </a:p>
        </p:txBody>
      </p:sp>
      <p:sp>
        <p:nvSpPr>
          <p:cNvPr id="10" name="文本占位符 9">
            <a:extLst>
              <a:ext uri="{FF2B5EF4-FFF2-40B4-BE49-F238E27FC236}">
                <a16:creationId xmlns:a16="http://schemas.microsoft.com/office/drawing/2014/main" id="{72E10AB6-5214-A529-2C95-B970940E4B37}"/>
              </a:ext>
            </a:extLst>
          </p:cNvPr>
          <p:cNvSpPr>
            <a:spLocks noGrp="1"/>
          </p:cNvSpPr>
          <p:nvPr>
            <p:ph type="body" idx="1"/>
          </p:nvPr>
        </p:nvSpPr>
        <p:spPr>
          <a:xfrm>
            <a:off x="740410" y="4752974"/>
            <a:ext cx="10515600" cy="1500187"/>
          </a:xfrm>
        </p:spPr>
        <p:txBody>
          <a:bodyPr/>
          <a:lstStyle/>
          <a:p>
            <a:pPr algn="r"/>
            <a:r>
              <a:rPr lang="zh-CN" altLang="en-US" dirty="0"/>
              <a:t>汇报人：伍嘉琪</a:t>
            </a:r>
            <a:endParaRPr lang="en-US" altLang="zh-CN" dirty="0"/>
          </a:p>
          <a:p>
            <a:pPr algn="r"/>
            <a:r>
              <a:rPr lang="zh-CN" altLang="en-US" dirty="0"/>
              <a:t>汇报时间：</a:t>
            </a:r>
            <a:r>
              <a:rPr lang="en-US" altLang="zh-CN" dirty="0"/>
              <a:t>2026</a:t>
            </a:r>
            <a:r>
              <a:rPr lang="zh-CN" altLang="en-US" dirty="0"/>
              <a:t>年</a:t>
            </a:r>
            <a:r>
              <a:rPr lang="en-US" altLang="zh-CN" dirty="0"/>
              <a:t>1</a:t>
            </a:r>
            <a:r>
              <a:rPr lang="zh-CN" altLang="en-US" dirty="0"/>
              <a:t>月</a:t>
            </a:r>
            <a:r>
              <a:rPr lang="en-US" altLang="zh-CN" dirty="0"/>
              <a:t>18</a:t>
            </a:r>
            <a:r>
              <a:rPr lang="zh-CN" altLang="en-US" dirty="0"/>
              <a:t>日</a:t>
            </a:r>
          </a:p>
        </p:txBody>
      </p:sp>
      <p:sp>
        <p:nvSpPr>
          <p:cNvPr id="7" name="文本框 6">
            <a:extLst>
              <a:ext uri="{FF2B5EF4-FFF2-40B4-BE49-F238E27FC236}">
                <a16:creationId xmlns:a16="http://schemas.microsoft.com/office/drawing/2014/main" id="{A337CE86-3A71-0CD3-0D06-3E3BAFAB6F57}"/>
              </a:ext>
            </a:extLst>
          </p:cNvPr>
          <p:cNvSpPr txBox="1"/>
          <p:nvPr/>
        </p:nvSpPr>
        <p:spPr>
          <a:xfrm>
            <a:off x="4999566" y="3152308"/>
            <a:ext cx="7924800" cy="830997"/>
          </a:xfrm>
          <a:prstGeom prst="rect">
            <a:avLst/>
          </a:prstGeom>
          <a:noFill/>
        </p:spPr>
        <p:txBody>
          <a:bodyPr wrap="square">
            <a:spAutoFit/>
          </a:bodyPr>
          <a:lstStyle/>
          <a:p>
            <a:r>
              <a:rPr lang="en-US" altLang="zh-CN" sz="4800" dirty="0">
                <a:solidFill>
                  <a:schemeClr val="tx1">
                    <a:lumMod val="75000"/>
                    <a:lumOff val="25000"/>
                  </a:schemeClr>
                </a:solidFill>
                <a:latin typeface="宋体" panose="02010600030101010101" pitchFamily="2" charset="-122"/>
                <a:ea typeface="宋体" panose="02010600030101010101" pitchFamily="2" charset="-122"/>
                <a:cs typeface="+mj-cs"/>
              </a:rPr>
              <a:t>——</a:t>
            </a:r>
            <a:r>
              <a:rPr lang="zh-CN" altLang="en-US" sz="4800" dirty="0">
                <a:solidFill>
                  <a:schemeClr val="tx1">
                    <a:lumMod val="75000"/>
                    <a:lumOff val="25000"/>
                  </a:schemeClr>
                </a:solidFill>
                <a:latin typeface="宋体" panose="02010600030101010101" pitchFamily="2" charset="-122"/>
                <a:ea typeface="宋体" panose="02010600030101010101" pitchFamily="2" charset="-122"/>
                <a:cs typeface="+mj-cs"/>
              </a:rPr>
              <a:t>任务相关性的影响</a:t>
            </a:r>
          </a:p>
        </p:txBody>
      </p:sp>
    </p:spTree>
    <p:extLst>
      <p:ext uri="{BB962C8B-B14F-4D97-AF65-F5344CB8AC3E}">
        <p14:creationId xmlns:p14="http://schemas.microsoft.com/office/powerpoint/2010/main" val="24223775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253B94-3A15-AE6A-C99D-E43AAD9DDA3A}"/>
              </a:ext>
            </a:extLst>
          </p:cNvPr>
          <p:cNvSpPr>
            <a:spLocks noGrp="1"/>
          </p:cNvSpPr>
          <p:nvPr>
            <p:ph type="title"/>
          </p:nvPr>
        </p:nvSpPr>
        <p:spPr/>
        <p:txBody>
          <a:bodyPr/>
          <a:lstStyle/>
          <a:p>
            <a:r>
              <a:rPr lang="en-US" altLang="zh-CN" dirty="0">
                <a:latin typeface="宋体" panose="02010600030101010101" pitchFamily="2" charset="-122"/>
                <a:ea typeface="宋体" panose="02010600030101010101" pitchFamily="2" charset="-122"/>
              </a:rPr>
              <a:t>Part1</a:t>
            </a:r>
            <a:r>
              <a:rPr lang="zh-CN" altLang="en-US" dirty="0">
                <a:latin typeface="宋体" panose="02010600030101010101" pitchFamily="2" charset="-122"/>
                <a:ea typeface="宋体" panose="02010600030101010101" pitchFamily="2" charset="-122"/>
              </a:rPr>
              <a:t>：项目简介</a:t>
            </a:r>
          </a:p>
        </p:txBody>
      </p:sp>
    </p:spTree>
    <p:extLst>
      <p:ext uri="{BB962C8B-B14F-4D97-AF65-F5344CB8AC3E}">
        <p14:creationId xmlns:p14="http://schemas.microsoft.com/office/powerpoint/2010/main" val="348213124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58CF9B09-CC60-D520-F971-4B7B5F4C2AA7}"/>
              </a:ext>
            </a:extLst>
          </p:cNvPr>
          <p:cNvSpPr>
            <a:spLocks noGrp="1"/>
          </p:cNvSpPr>
          <p:nvPr>
            <p:ph type="title" idx="4294967295"/>
          </p:nvPr>
        </p:nvSpPr>
        <p:spPr>
          <a:xfrm>
            <a:off x="0" y="0"/>
            <a:ext cx="10515600" cy="1325563"/>
          </a:xfrm>
        </p:spPr>
        <p:txBody>
          <a:bodyPr/>
          <a:lstStyle/>
          <a:p>
            <a:r>
              <a:rPr lang="zh-CN" altLang="en-US" dirty="0">
                <a:latin typeface="宋体" panose="02010600030101010101" pitchFamily="2" charset="-122"/>
                <a:ea typeface="宋体" panose="02010600030101010101" pitchFamily="2" charset="-122"/>
              </a:rPr>
              <a:t>研究问题</a:t>
            </a:r>
            <a:r>
              <a:rPr lang="en-US" altLang="zh-CN" dirty="0">
                <a:latin typeface="宋体" panose="02010600030101010101" pitchFamily="2" charset="-122"/>
                <a:ea typeface="宋体" panose="02010600030101010101" pitchFamily="2" charset="-122"/>
              </a:rPr>
              <a:t>&amp;</a:t>
            </a:r>
            <a:r>
              <a:rPr lang="zh-CN" altLang="en-US" dirty="0">
                <a:latin typeface="宋体" panose="02010600030101010101" pitchFamily="2" charset="-122"/>
                <a:ea typeface="宋体" panose="02010600030101010101" pitchFamily="2" charset="-122"/>
              </a:rPr>
              <a:t>目标</a:t>
            </a:r>
          </a:p>
        </p:txBody>
      </p:sp>
      <p:sp>
        <p:nvSpPr>
          <p:cNvPr id="4" name="内容占位符 3">
            <a:extLst>
              <a:ext uri="{FF2B5EF4-FFF2-40B4-BE49-F238E27FC236}">
                <a16:creationId xmlns:a16="http://schemas.microsoft.com/office/drawing/2014/main" id="{695D730A-528C-1B9F-5E62-2D1194B8E465}"/>
              </a:ext>
            </a:extLst>
          </p:cNvPr>
          <p:cNvSpPr>
            <a:spLocks noGrp="1"/>
          </p:cNvSpPr>
          <p:nvPr>
            <p:ph idx="4294967295"/>
          </p:nvPr>
        </p:nvSpPr>
        <p:spPr>
          <a:xfrm>
            <a:off x="154641" y="1296988"/>
            <a:ext cx="11907184" cy="4832879"/>
          </a:xfrm>
        </p:spPr>
        <p:txBody>
          <a:bodyPr>
            <a:normAutofit/>
          </a:bodyPr>
          <a:lstStyle/>
          <a:p>
            <a:pPr>
              <a:lnSpc>
                <a:spcPct val="150000"/>
              </a:lnSpc>
            </a:pPr>
            <a:r>
              <a:rPr lang="zh-CN" altLang="en-US" sz="2400" b="1" dirty="0">
                <a:solidFill>
                  <a:schemeClr val="tx1">
                    <a:lumMod val="85000"/>
                    <a:lumOff val="15000"/>
                  </a:schemeClr>
                </a:solidFill>
                <a:latin typeface="宋体" panose="02010600030101010101" pitchFamily="2" charset="-122"/>
                <a:ea typeface="宋体" panose="02010600030101010101" pitchFamily="2" charset="-122"/>
              </a:rPr>
              <a:t>研究问题</a:t>
            </a:r>
            <a:endParaRPr lang="en-US" altLang="zh-CN" sz="2400" b="1" dirty="0">
              <a:solidFill>
                <a:schemeClr val="tx1">
                  <a:lumMod val="85000"/>
                  <a:lumOff val="15000"/>
                </a:schemeClr>
              </a:solidFill>
              <a:latin typeface="宋体" panose="02010600030101010101" pitchFamily="2" charset="-122"/>
              <a:ea typeface="宋体" panose="02010600030101010101" pitchFamily="2" charset="-122"/>
            </a:endParaRPr>
          </a:p>
          <a:p>
            <a:pPr lvl="1">
              <a:lnSpc>
                <a:spcPct val="150000"/>
              </a:lnSpc>
            </a:pP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任务相关性是否调节自我优势效应？</a:t>
            </a:r>
            <a:endParaRPr lang="en-US" altLang="zh-CN" sz="2000" b="1" dirty="0">
              <a:solidFill>
                <a:schemeClr val="tx1">
                  <a:lumMod val="75000"/>
                  <a:lumOff val="25000"/>
                </a:schemeClr>
              </a:solidFill>
              <a:latin typeface="宋体" panose="02010600030101010101" pitchFamily="2" charset="-122"/>
              <a:ea typeface="宋体" panose="02010600030101010101" pitchFamily="2" charset="-122"/>
            </a:endParaRPr>
          </a:p>
          <a:p>
            <a:pPr>
              <a:lnSpc>
                <a:spcPct val="150000"/>
              </a:lnSpc>
            </a:pPr>
            <a:r>
              <a:rPr lang="zh-CN" altLang="en-US" sz="2400" b="1" dirty="0">
                <a:solidFill>
                  <a:schemeClr val="tx1">
                    <a:lumMod val="85000"/>
                    <a:lumOff val="15000"/>
                  </a:schemeClr>
                </a:solidFill>
                <a:latin typeface="宋体" panose="02010600030101010101" pitchFamily="2" charset="-122"/>
                <a:ea typeface="宋体" panose="02010600030101010101" pitchFamily="2" charset="-122"/>
              </a:rPr>
              <a:t>研究目标</a:t>
            </a:r>
            <a:endParaRPr lang="en-US" altLang="zh-CN" sz="2400" b="1" dirty="0">
              <a:solidFill>
                <a:schemeClr val="tx1">
                  <a:lumMod val="85000"/>
                  <a:lumOff val="15000"/>
                </a:schemeClr>
              </a:solidFill>
              <a:latin typeface="宋体" panose="02010600030101010101" pitchFamily="2" charset="-122"/>
              <a:ea typeface="宋体" panose="02010600030101010101" pitchFamily="2" charset="-122"/>
            </a:endParaRPr>
          </a:p>
          <a:p>
            <a:pPr lvl="1">
              <a:lnSpc>
                <a:spcPct val="150000"/>
              </a:lnSpc>
            </a:pPr>
            <a:r>
              <a:rPr lang="en-US" altLang="zh-CN" sz="2000" b="1" dirty="0">
                <a:solidFill>
                  <a:schemeClr val="tx1">
                    <a:lumMod val="65000"/>
                    <a:lumOff val="35000"/>
                  </a:schemeClr>
                </a:solidFill>
                <a:latin typeface="宋体" panose="02010600030101010101" pitchFamily="2" charset="-122"/>
                <a:ea typeface="宋体" panose="02010600030101010101" pitchFamily="2" charset="-122"/>
              </a:rPr>
              <a:t>Exp1</a:t>
            </a: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：探究任务目标对自我优势效应的影响，即自我作为任务目标以及非任务目标时的自我优势效应。（自我与任务目标对立）</a:t>
            </a:r>
            <a:endParaRPr lang="en-US" altLang="zh-CN" sz="2000" b="1" dirty="0">
              <a:solidFill>
                <a:schemeClr val="tx1">
                  <a:lumMod val="65000"/>
                  <a:lumOff val="35000"/>
                </a:schemeClr>
              </a:solidFill>
              <a:latin typeface="宋体" panose="02010600030101010101" pitchFamily="2" charset="-122"/>
              <a:ea typeface="宋体" panose="02010600030101010101" pitchFamily="2" charset="-122"/>
            </a:endParaRPr>
          </a:p>
          <a:p>
            <a:pPr lvl="1">
              <a:lnSpc>
                <a:spcPct val="150000"/>
              </a:lnSpc>
            </a:pPr>
            <a:r>
              <a:rPr lang="en-US" altLang="zh-CN" sz="2000" b="1" dirty="0">
                <a:solidFill>
                  <a:schemeClr val="tx1">
                    <a:lumMod val="65000"/>
                    <a:lumOff val="35000"/>
                  </a:schemeClr>
                </a:solidFill>
                <a:latin typeface="宋体" panose="02010600030101010101" pitchFamily="2" charset="-122"/>
                <a:ea typeface="宋体" panose="02010600030101010101" pitchFamily="2" charset="-122"/>
              </a:rPr>
              <a:t>Exp2</a:t>
            </a: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a:t>
            </a:r>
            <a:r>
              <a:rPr lang="zh-CN" altLang="zh-CN" sz="2000" b="1" dirty="0">
                <a:solidFill>
                  <a:schemeClr val="tx1">
                    <a:lumMod val="65000"/>
                    <a:lumOff val="35000"/>
                  </a:schemeClr>
                </a:solidFill>
                <a:latin typeface="宋体" panose="02010600030101010101" pitchFamily="2" charset="-122"/>
                <a:ea typeface="宋体" panose="02010600030101010101" pitchFamily="2" charset="-122"/>
              </a:rPr>
              <a:t>探究任务相关性对自我优势效应的影响</a:t>
            </a: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，即自我与任务有关以及自我与任务无关时的自我优势效应。（自我与任务目标无关）</a:t>
            </a:r>
            <a:endParaRPr lang="en-US" altLang="zh-CN" sz="2000" b="1" dirty="0">
              <a:solidFill>
                <a:schemeClr val="tx1">
                  <a:lumMod val="65000"/>
                  <a:lumOff val="35000"/>
                </a:schemeClr>
              </a:solidFill>
              <a:latin typeface="宋体" panose="02010600030101010101" pitchFamily="2" charset="-122"/>
              <a:ea typeface="宋体" panose="02010600030101010101" pitchFamily="2" charset="-122"/>
            </a:endParaRPr>
          </a:p>
          <a:p>
            <a:pPr lvl="1">
              <a:lnSpc>
                <a:spcPct val="150000"/>
              </a:lnSpc>
            </a:pPr>
            <a:r>
              <a:rPr lang="en-US" altLang="zh-CN" sz="2000" b="1" dirty="0">
                <a:solidFill>
                  <a:schemeClr val="tx1">
                    <a:lumMod val="65000"/>
                    <a:lumOff val="35000"/>
                  </a:schemeClr>
                </a:solidFill>
                <a:latin typeface="宋体" panose="02010600030101010101" pitchFamily="2" charset="-122"/>
                <a:ea typeface="宋体" panose="02010600030101010101" pitchFamily="2" charset="-122"/>
              </a:rPr>
              <a:t>Exp3</a:t>
            </a: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a:t>
            </a:r>
            <a:r>
              <a:rPr lang="zh-CN" altLang="zh-CN" sz="2000" b="1" dirty="0">
                <a:solidFill>
                  <a:schemeClr val="tx1">
                    <a:lumMod val="65000"/>
                    <a:lumOff val="35000"/>
                  </a:schemeClr>
                </a:solidFill>
                <a:latin typeface="宋体" panose="02010600030101010101" pitchFamily="2" charset="-122"/>
                <a:ea typeface="宋体" panose="02010600030101010101" pitchFamily="2" charset="-122"/>
              </a:rPr>
              <a:t>探究不同认知负荷下，任务相关性对自我优势效应的影响。</a:t>
            </a:r>
            <a:endParaRPr lang="en-US" altLang="zh-CN" sz="2000" b="1" dirty="0">
              <a:solidFill>
                <a:schemeClr val="tx1">
                  <a:lumMod val="65000"/>
                  <a:lumOff val="3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859928499"/>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08B2673-2D46-EE7B-F966-58161C6DC70C}"/>
              </a:ext>
            </a:extLst>
          </p:cNvPr>
          <p:cNvSpPr>
            <a:spLocks noGrp="1"/>
          </p:cNvSpPr>
          <p:nvPr>
            <p:ph type="title"/>
          </p:nvPr>
        </p:nvSpPr>
        <p:spPr/>
        <p:txBody>
          <a:bodyPr/>
          <a:lstStyle/>
          <a:p>
            <a:r>
              <a:rPr lang="en-US" altLang="zh-CN" dirty="0">
                <a:latin typeface="宋体" panose="02010600030101010101" pitchFamily="2" charset="-122"/>
                <a:ea typeface="宋体" panose="02010600030101010101" pitchFamily="2" charset="-122"/>
              </a:rPr>
              <a:t>Part2</a:t>
            </a:r>
            <a:r>
              <a:rPr lang="zh-CN" altLang="en-US" dirty="0">
                <a:latin typeface="宋体" panose="02010600030101010101" pitchFamily="2" charset="-122"/>
                <a:ea typeface="宋体" panose="02010600030101010101" pitchFamily="2" charset="-122"/>
              </a:rPr>
              <a:t>：研究进展</a:t>
            </a:r>
          </a:p>
        </p:txBody>
      </p:sp>
    </p:spTree>
    <p:extLst>
      <p:ext uri="{BB962C8B-B14F-4D97-AF65-F5344CB8AC3E}">
        <p14:creationId xmlns:p14="http://schemas.microsoft.com/office/powerpoint/2010/main" val="382225036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ACCFC-1696-EF8B-EAF9-475240CA1B05}"/>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6BFC1CA7-8ADD-3921-D0F1-11FCDAAFD351}"/>
              </a:ext>
            </a:extLst>
          </p:cNvPr>
          <p:cNvSpPr>
            <a:spLocks noGrp="1"/>
          </p:cNvSpPr>
          <p:nvPr>
            <p:ph type="title" idx="4294967295"/>
          </p:nvPr>
        </p:nvSpPr>
        <p:spPr>
          <a:xfrm>
            <a:off x="0" y="0"/>
            <a:ext cx="10515600" cy="1325563"/>
          </a:xfrm>
        </p:spPr>
        <p:txBody>
          <a:bodyPr/>
          <a:lstStyle/>
          <a:p>
            <a:r>
              <a:rPr lang="zh-CN" altLang="en-US" dirty="0">
                <a:latin typeface="宋体" panose="02010600030101010101" pitchFamily="2" charset="-122"/>
                <a:ea typeface="宋体" panose="02010600030101010101" pitchFamily="2" charset="-122"/>
              </a:rPr>
              <a:t>研究进展</a:t>
            </a:r>
            <a:r>
              <a:rPr lang="en-US" altLang="zh-CN" dirty="0">
                <a:latin typeface="宋体" panose="02010600030101010101" pitchFamily="2" charset="-122"/>
                <a:ea typeface="宋体" panose="02010600030101010101" pitchFamily="2" charset="-122"/>
              </a:rPr>
              <a:t>&amp;TO DO</a:t>
            </a:r>
            <a:endParaRPr lang="zh-CN" altLang="en-US" dirty="0">
              <a:latin typeface="宋体" panose="02010600030101010101" pitchFamily="2" charset="-122"/>
              <a:ea typeface="宋体" panose="02010600030101010101" pitchFamily="2" charset="-122"/>
            </a:endParaRPr>
          </a:p>
        </p:txBody>
      </p:sp>
      <p:sp>
        <p:nvSpPr>
          <p:cNvPr id="4" name="内容占位符 3">
            <a:extLst>
              <a:ext uri="{FF2B5EF4-FFF2-40B4-BE49-F238E27FC236}">
                <a16:creationId xmlns:a16="http://schemas.microsoft.com/office/drawing/2014/main" id="{790FB6BB-71ED-A1FA-9ABC-81911018B1E7}"/>
              </a:ext>
            </a:extLst>
          </p:cNvPr>
          <p:cNvSpPr>
            <a:spLocks noGrp="1"/>
          </p:cNvSpPr>
          <p:nvPr>
            <p:ph idx="4294967295"/>
          </p:nvPr>
        </p:nvSpPr>
        <p:spPr>
          <a:xfrm>
            <a:off x="154641" y="1296988"/>
            <a:ext cx="5263179" cy="5416232"/>
          </a:xfrm>
        </p:spPr>
        <p:txBody>
          <a:bodyPr>
            <a:normAutofit/>
          </a:bodyPr>
          <a:lstStyle/>
          <a:p>
            <a:pPr>
              <a:lnSpc>
                <a:spcPct val="150000"/>
              </a:lnSpc>
            </a:pPr>
            <a:r>
              <a:rPr lang="zh-CN" altLang="en-US" sz="1800" b="1" dirty="0">
                <a:solidFill>
                  <a:schemeClr val="tx1">
                    <a:lumMod val="85000"/>
                    <a:lumOff val="15000"/>
                  </a:schemeClr>
                </a:solidFill>
                <a:latin typeface="宋体" panose="02010600030101010101" pitchFamily="2" charset="-122"/>
                <a:ea typeface="宋体" panose="02010600030101010101" pitchFamily="2" charset="-122"/>
              </a:rPr>
              <a:t>上学期已完成：</a:t>
            </a:r>
            <a:endParaRPr lang="en-US" altLang="zh-CN" sz="1800" b="1" dirty="0">
              <a:solidFill>
                <a:schemeClr val="tx1">
                  <a:lumMod val="85000"/>
                  <a:lumOff val="15000"/>
                </a:schemeClr>
              </a:solidFill>
              <a:latin typeface="宋体" panose="02010600030101010101" pitchFamily="2" charset="-122"/>
              <a:ea typeface="宋体" panose="02010600030101010101" pitchFamily="2" charset="-122"/>
            </a:endParaRPr>
          </a:p>
          <a:p>
            <a:pPr lvl="1">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开题：三项实验设计</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a:p>
            <a:pPr lvl="1">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1</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：程序编写、数据收集 </a:t>
            </a: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&amp; </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分析</a:t>
            </a:r>
          </a:p>
          <a:p>
            <a:pPr lvl="1">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2</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：程序编写 </a:t>
            </a: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&amp; </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预实验</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a:p>
            <a:pPr marL="342900" indent="-342900">
              <a:lnSpc>
                <a:spcPct val="150000"/>
              </a:lnSpc>
            </a:pPr>
            <a:r>
              <a:rPr lang="zh-CN" altLang="en-US" sz="1800" b="1" dirty="0">
                <a:solidFill>
                  <a:schemeClr val="tx1">
                    <a:lumMod val="85000"/>
                    <a:lumOff val="15000"/>
                  </a:schemeClr>
                </a:solidFill>
                <a:latin typeface="宋体" panose="02010600030101010101" pitchFamily="2" charset="-122"/>
                <a:ea typeface="宋体" panose="02010600030101010101" pitchFamily="2" charset="-122"/>
              </a:rPr>
              <a:t>本学期进展：</a:t>
            </a:r>
            <a:endParaRPr lang="en-US" altLang="zh-CN" sz="1600" b="1" dirty="0">
              <a:solidFill>
                <a:schemeClr val="tx1">
                  <a:lumMod val="85000"/>
                  <a:lumOff val="15000"/>
                </a:schemeClr>
              </a:solidFill>
              <a:latin typeface="宋体" panose="02010600030101010101" pitchFamily="2" charset="-122"/>
              <a:ea typeface="宋体" panose="02010600030101010101" pitchFamily="2" charset="-122"/>
            </a:endParaRPr>
          </a:p>
          <a:p>
            <a:pPr marL="800100" lvl="1" indent="-342900">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预注册报告</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a:p>
            <a:pPr marL="800100" lvl="1" indent="-342900">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1</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：结果撰写</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a:p>
            <a:pPr marL="800100" lvl="1" indent="-342900">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2</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：数据收集、数据分析、结果撰写</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a:p>
            <a:pPr marL="800100" lvl="1" indent="-342900">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3</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：程序编写、预实验、数据收集</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a:p>
            <a:pPr marL="342900" indent="-342900">
              <a:lnSpc>
                <a:spcPct val="150000"/>
              </a:lnSpc>
            </a:pPr>
            <a:r>
              <a:rPr lang="en-US" altLang="zh-CN" sz="1600" b="1" dirty="0">
                <a:solidFill>
                  <a:schemeClr val="tx1">
                    <a:lumMod val="85000"/>
                    <a:lumOff val="15000"/>
                  </a:schemeClr>
                </a:solidFill>
                <a:latin typeface="宋体" panose="02010600030101010101" pitchFamily="2" charset="-122"/>
                <a:ea typeface="宋体" panose="02010600030101010101" pitchFamily="2" charset="-122"/>
              </a:rPr>
              <a:t>TO DO</a:t>
            </a:r>
            <a:r>
              <a:rPr lang="zh-CN" altLang="en-US" sz="1600" b="1" dirty="0">
                <a:solidFill>
                  <a:schemeClr val="tx1">
                    <a:lumMod val="85000"/>
                    <a:lumOff val="15000"/>
                  </a:schemeClr>
                </a:solidFill>
                <a:latin typeface="宋体" panose="02010600030101010101" pitchFamily="2" charset="-122"/>
                <a:ea typeface="宋体" panose="02010600030101010101" pitchFamily="2" charset="-122"/>
              </a:rPr>
              <a:t>：</a:t>
            </a:r>
            <a:endParaRPr lang="en-US" altLang="zh-CN" sz="1600" b="1" dirty="0">
              <a:solidFill>
                <a:schemeClr val="tx1">
                  <a:lumMod val="85000"/>
                  <a:lumOff val="15000"/>
                </a:schemeClr>
              </a:solidFill>
              <a:latin typeface="宋体" panose="02010600030101010101" pitchFamily="2" charset="-122"/>
              <a:ea typeface="宋体" panose="02010600030101010101" pitchFamily="2" charset="-122"/>
            </a:endParaRPr>
          </a:p>
          <a:p>
            <a:pPr marL="800100" lvl="1" indent="-342900">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600" b="1" dirty="0">
                <a:solidFill>
                  <a:schemeClr val="tx1">
                    <a:lumMod val="65000"/>
                    <a:lumOff val="35000"/>
                  </a:schemeClr>
                </a:solidFill>
                <a:latin typeface="宋体" panose="02010600030101010101" pitchFamily="2" charset="-122"/>
                <a:ea typeface="宋体" panose="02010600030101010101" pitchFamily="2" charset="-122"/>
              </a:rPr>
              <a:t>3</a:t>
            </a: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：数据分析、结果撰写</a:t>
            </a:r>
            <a:endParaRPr lang="en-US" altLang="zh-CN" sz="1600" b="1" dirty="0">
              <a:solidFill>
                <a:schemeClr val="tx1">
                  <a:lumMod val="65000"/>
                  <a:lumOff val="35000"/>
                </a:schemeClr>
              </a:solidFill>
              <a:latin typeface="宋体" panose="02010600030101010101" pitchFamily="2" charset="-122"/>
              <a:ea typeface="宋体" panose="02010600030101010101" pitchFamily="2" charset="-122"/>
            </a:endParaRPr>
          </a:p>
          <a:p>
            <a:pPr marL="800100" lvl="1" indent="-342900">
              <a:lnSpc>
                <a:spcPct val="150000"/>
              </a:lnSpc>
            </a:pPr>
            <a:r>
              <a:rPr lang="zh-CN" altLang="en-US" sz="1600" b="1" dirty="0">
                <a:solidFill>
                  <a:schemeClr val="tx1">
                    <a:lumMod val="65000"/>
                    <a:lumOff val="35000"/>
                  </a:schemeClr>
                </a:solidFill>
                <a:latin typeface="宋体" panose="02010600030101010101" pitchFamily="2" charset="-122"/>
                <a:ea typeface="宋体" panose="02010600030101010101" pitchFamily="2" charset="-122"/>
              </a:rPr>
              <a:t>论文初稿撰写</a:t>
            </a:r>
            <a:endParaRPr lang="en-US" altLang="zh-CN" sz="1800" b="1" dirty="0">
              <a:solidFill>
                <a:schemeClr val="tx1">
                  <a:lumMod val="65000"/>
                  <a:lumOff val="35000"/>
                </a:schemeClr>
              </a:solidFill>
              <a:latin typeface="宋体" panose="02010600030101010101" pitchFamily="2" charset="-122"/>
              <a:ea typeface="宋体" panose="02010600030101010101" pitchFamily="2" charset="-122"/>
            </a:endParaRPr>
          </a:p>
        </p:txBody>
      </p:sp>
      <p:grpSp>
        <p:nvGrpSpPr>
          <p:cNvPr id="26" name="组合 25">
            <a:extLst>
              <a:ext uri="{FF2B5EF4-FFF2-40B4-BE49-F238E27FC236}">
                <a16:creationId xmlns:a16="http://schemas.microsoft.com/office/drawing/2014/main" id="{6EACB694-FCFF-3957-3AAE-67EC7D6622C3}"/>
              </a:ext>
            </a:extLst>
          </p:cNvPr>
          <p:cNvGrpSpPr/>
          <p:nvPr/>
        </p:nvGrpSpPr>
        <p:grpSpPr>
          <a:xfrm>
            <a:off x="5198658" y="802533"/>
            <a:ext cx="6542295" cy="2246106"/>
            <a:chOff x="5198658" y="802533"/>
            <a:chExt cx="6542295" cy="2246106"/>
          </a:xfrm>
        </p:grpSpPr>
        <p:grpSp>
          <p:nvGrpSpPr>
            <p:cNvPr id="8" name="组合 7">
              <a:extLst>
                <a:ext uri="{FF2B5EF4-FFF2-40B4-BE49-F238E27FC236}">
                  <a16:creationId xmlns:a16="http://schemas.microsoft.com/office/drawing/2014/main" id="{606D02A1-8622-0BB2-5D72-56D3B604381F}"/>
                </a:ext>
              </a:extLst>
            </p:cNvPr>
            <p:cNvGrpSpPr/>
            <p:nvPr/>
          </p:nvGrpSpPr>
          <p:grpSpPr>
            <a:xfrm>
              <a:off x="5198658" y="802533"/>
              <a:ext cx="6542295" cy="1993704"/>
              <a:chOff x="4547353" y="498960"/>
              <a:chExt cx="7295032" cy="2223094"/>
            </a:xfrm>
          </p:grpSpPr>
          <p:pic>
            <p:nvPicPr>
              <p:cNvPr id="5" name="图片 4">
                <a:extLst>
                  <a:ext uri="{FF2B5EF4-FFF2-40B4-BE49-F238E27FC236}">
                    <a16:creationId xmlns:a16="http://schemas.microsoft.com/office/drawing/2014/main" id="{8BF3341C-D236-9514-5F1B-F8528B75D9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42385" y="498961"/>
                <a:ext cx="3600000" cy="2223093"/>
              </a:xfrm>
              <a:prstGeom prst="rect">
                <a:avLst/>
              </a:prstGeom>
            </p:spPr>
          </p:pic>
          <p:pic>
            <p:nvPicPr>
              <p:cNvPr id="7" name="图片 6">
                <a:extLst>
                  <a:ext uri="{FF2B5EF4-FFF2-40B4-BE49-F238E27FC236}">
                    <a16:creationId xmlns:a16="http://schemas.microsoft.com/office/drawing/2014/main" id="{77171AD5-0D1D-51CA-30F7-A820C8233A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7353" y="498960"/>
                <a:ext cx="3600000" cy="2223093"/>
              </a:xfrm>
              <a:prstGeom prst="rect">
                <a:avLst/>
              </a:prstGeom>
            </p:spPr>
          </p:pic>
        </p:grpSp>
        <p:sp>
          <p:nvSpPr>
            <p:cNvPr id="23" name="文本框 22">
              <a:extLst>
                <a:ext uri="{FF2B5EF4-FFF2-40B4-BE49-F238E27FC236}">
                  <a16:creationId xmlns:a16="http://schemas.microsoft.com/office/drawing/2014/main" id="{2EE2C2A7-FAE5-92AA-F0BD-1623583A9A07}"/>
                </a:ext>
              </a:extLst>
            </p:cNvPr>
            <p:cNvSpPr txBox="1"/>
            <p:nvPr/>
          </p:nvSpPr>
          <p:spPr>
            <a:xfrm>
              <a:off x="7830883" y="2710085"/>
              <a:ext cx="1104900" cy="338554"/>
            </a:xfrm>
            <a:prstGeom prst="rect">
              <a:avLst/>
            </a:prstGeom>
            <a:noFill/>
          </p:spPr>
          <p:txBody>
            <a:bodyPr wrap="square" rtlCol="0">
              <a:spAutoFit/>
            </a:bodyPr>
            <a:lstStyle/>
            <a:p>
              <a:r>
                <a:rPr lang="zh-CN" altLang="en-US" sz="1600"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600" dirty="0">
                  <a:solidFill>
                    <a:schemeClr val="tx1">
                      <a:lumMod val="65000"/>
                      <a:lumOff val="35000"/>
                    </a:schemeClr>
                  </a:solidFill>
                  <a:latin typeface="宋体" panose="02010600030101010101" pitchFamily="2" charset="-122"/>
                  <a:ea typeface="宋体" panose="02010600030101010101" pitchFamily="2" charset="-122"/>
                </a:rPr>
                <a:t>1</a:t>
              </a:r>
              <a:r>
                <a:rPr lang="zh-CN" altLang="en-US" sz="1600" dirty="0">
                  <a:solidFill>
                    <a:schemeClr val="tx1">
                      <a:lumMod val="65000"/>
                      <a:lumOff val="35000"/>
                    </a:schemeClr>
                  </a:solidFill>
                  <a:latin typeface="宋体" panose="02010600030101010101" pitchFamily="2" charset="-122"/>
                  <a:ea typeface="宋体" panose="02010600030101010101" pitchFamily="2" charset="-122"/>
                </a:rPr>
                <a:t>结果</a:t>
              </a:r>
            </a:p>
          </p:txBody>
        </p:sp>
      </p:grpSp>
      <p:grpSp>
        <p:nvGrpSpPr>
          <p:cNvPr id="25" name="组合 24">
            <a:extLst>
              <a:ext uri="{FF2B5EF4-FFF2-40B4-BE49-F238E27FC236}">
                <a16:creationId xmlns:a16="http://schemas.microsoft.com/office/drawing/2014/main" id="{674CA624-E69D-BBBD-FE72-01CAF61893B1}"/>
              </a:ext>
            </a:extLst>
          </p:cNvPr>
          <p:cNvGrpSpPr/>
          <p:nvPr/>
        </p:nvGrpSpPr>
        <p:grpSpPr>
          <a:xfrm>
            <a:off x="5900842" y="3094768"/>
            <a:ext cx="6222578" cy="3724535"/>
            <a:chOff x="5900842" y="3094768"/>
            <a:chExt cx="6222578" cy="3724535"/>
          </a:xfrm>
        </p:grpSpPr>
        <p:grpSp>
          <p:nvGrpSpPr>
            <p:cNvPr id="10" name="组合 9">
              <a:extLst>
                <a:ext uri="{FF2B5EF4-FFF2-40B4-BE49-F238E27FC236}">
                  <a16:creationId xmlns:a16="http://schemas.microsoft.com/office/drawing/2014/main" id="{45DFFBBA-DF43-9A92-8952-475A91BC0CD0}"/>
                </a:ext>
              </a:extLst>
            </p:cNvPr>
            <p:cNvGrpSpPr>
              <a:grpSpLocks noChangeAspect="1"/>
            </p:cNvGrpSpPr>
            <p:nvPr/>
          </p:nvGrpSpPr>
          <p:grpSpPr>
            <a:xfrm>
              <a:off x="5900842" y="3094768"/>
              <a:ext cx="4964982" cy="3385980"/>
              <a:chOff x="524546" y="180179"/>
              <a:chExt cx="9666653" cy="6592389"/>
            </a:xfrm>
          </p:grpSpPr>
          <p:pic>
            <p:nvPicPr>
              <p:cNvPr id="11" name="图片 10">
                <a:extLst>
                  <a:ext uri="{FF2B5EF4-FFF2-40B4-BE49-F238E27FC236}">
                    <a16:creationId xmlns:a16="http://schemas.microsoft.com/office/drawing/2014/main" id="{3F70DBA7-C27E-EBAC-B6DA-A4E03540ED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7318" y="535450"/>
                <a:ext cx="4788000" cy="2956715"/>
              </a:xfrm>
              <a:prstGeom prst="rect">
                <a:avLst/>
              </a:prstGeom>
            </p:spPr>
          </p:pic>
          <p:pic>
            <p:nvPicPr>
              <p:cNvPr id="12" name="图片 11">
                <a:extLst>
                  <a:ext uri="{FF2B5EF4-FFF2-40B4-BE49-F238E27FC236}">
                    <a16:creationId xmlns:a16="http://schemas.microsoft.com/office/drawing/2014/main" id="{507F626E-9AAC-43D9-28F2-58519A9A14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5932" y="535450"/>
                <a:ext cx="4788000" cy="2956715"/>
              </a:xfrm>
              <a:prstGeom prst="rect">
                <a:avLst/>
              </a:prstGeom>
            </p:spPr>
          </p:pic>
          <p:grpSp>
            <p:nvGrpSpPr>
              <p:cNvPr id="13" name="组合 12">
                <a:extLst>
                  <a:ext uri="{FF2B5EF4-FFF2-40B4-BE49-F238E27FC236}">
                    <a16:creationId xmlns:a16="http://schemas.microsoft.com/office/drawing/2014/main" id="{2E037369-7B41-BE6C-908E-C7E5D58AA2C8}"/>
                  </a:ext>
                </a:extLst>
              </p:cNvPr>
              <p:cNvGrpSpPr>
                <a:grpSpLocks noChangeAspect="1"/>
              </p:cNvGrpSpPr>
              <p:nvPr/>
            </p:nvGrpSpPr>
            <p:grpSpPr>
              <a:xfrm>
                <a:off x="579319" y="180179"/>
                <a:ext cx="5051116" cy="599232"/>
                <a:chOff x="551384" y="1052736"/>
                <a:chExt cx="5688632" cy="674863"/>
              </a:xfrm>
            </p:grpSpPr>
            <p:sp>
              <p:nvSpPr>
                <p:cNvPr id="19" name="文本框 18">
                  <a:extLst>
                    <a:ext uri="{FF2B5EF4-FFF2-40B4-BE49-F238E27FC236}">
                      <a16:creationId xmlns:a16="http://schemas.microsoft.com/office/drawing/2014/main" id="{2831730D-B79C-8159-5C3B-F6B21F36099A}"/>
                    </a:ext>
                  </a:extLst>
                </p:cNvPr>
                <p:cNvSpPr txBox="1"/>
                <p:nvPr/>
              </p:nvSpPr>
              <p:spPr>
                <a:xfrm>
                  <a:off x="551384" y="1052736"/>
                  <a:ext cx="288631" cy="674863"/>
                </a:xfrm>
                <a:prstGeom prst="rect">
                  <a:avLst/>
                </a:prstGeom>
                <a:noFill/>
              </p:spPr>
              <p:txBody>
                <a:bodyPr wrap="square" rtlCol="0">
                  <a:spAutoFit/>
                </a:bodyPr>
                <a:lstStyle/>
                <a:p>
                  <a:pPr algn="l"/>
                  <a:r>
                    <a:rPr lang="en-US" altLang="zh-CN" sz="1400" dirty="0">
                      <a:latin typeface="微软雅黑" panose="020B0503020204020204" pitchFamily="34" charset="-122"/>
                      <a:ea typeface="微软雅黑" panose="020B0503020204020204" pitchFamily="34" charset="-122"/>
                    </a:rPr>
                    <a:t>A</a:t>
                  </a:r>
                  <a:endParaRPr lang="zh-CN" altLang="en-US" sz="1400"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75FA04E8-0C55-F481-D609-07D9BE865F97}"/>
                    </a:ext>
                  </a:extLst>
                </p:cNvPr>
                <p:cNvSpPr txBox="1"/>
                <p:nvPr/>
              </p:nvSpPr>
              <p:spPr>
                <a:xfrm>
                  <a:off x="5951385" y="1052736"/>
                  <a:ext cx="288631" cy="674863"/>
                </a:xfrm>
                <a:prstGeom prst="rect">
                  <a:avLst/>
                </a:prstGeom>
                <a:noFill/>
              </p:spPr>
              <p:txBody>
                <a:bodyPr wrap="square" rtlCol="0">
                  <a:spAutoFit/>
                </a:bodyPr>
                <a:lstStyle/>
                <a:p>
                  <a:pPr algn="l"/>
                  <a:r>
                    <a:rPr lang="en-US" altLang="zh-CN" sz="1400" dirty="0">
                      <a:latin typeface="微软雅黑" panose="020B0503020204020204" pitchFamily="34" charset="-122"/>
                      <a:ea typeface="微软雅黑" panose="020B0503020204020204" pitchFamily="34" charset="-122"/>
                    </a:rPr>
                    <a:t>B</a:t>
                  </a:r>
                  <a:endParaRPr lang="zh-CN" altLang="en-US" sz="1400" dirty="0">
                    <a:latin typeface="微软雅黑" panose="020B0503020204020204" pitchFamily="34" charset="-122"/>
                    <a:ea typeface="微软雅黑" panose="020B0503020204020204" pitchFamily="34" charset="-122"/>
                  </a:endParaRPr>
                </a:p>
              </p:txBody>
            </p:sp>
          </p:grpSp>
          <p:grpSp>
            <p:nvGrpSpPr>
              <p:cNvPr id="14" name="组合 13">
                <a:extLst>
                  <a:ext uri="{FF2B5EF4-FFF2-40B4-BE49-F238E27FC236}">
                    <a16:creationId xmlns:a16="http://schemas.microsoft.com/office/drawing/2014/main" id="{2ACF017F-1C1B-32D7-CF2A-F7E9CA96D783}"/>
                  </a:ext>
                </a:extLst>
              </p:cNvPr>
              <p:cNvGrpSpPr>
                <a:grpSpLocks noChangeAspect="1"/>
              </p:cNvGrpSpPr>
              <p:nvPr/>
            </p:nvGrpSpPr>
            <p:grpSpPr>
              <a:xfrm>
                <a:off x="524546" y="3176758"/>
                <a:ext cx="5070238" cy="599231"/>
                <a:chOff x="345382" y="760398"/>
                <a:chExt cx="5710168" cy="674862"/>
              </a:xfrm>
            </p:grpSpPr>
            <p:sp>
              <p:nvSpPr>
                <p:cNvPr id="17" name="文本框 16">
                  <a:extLst>
                    <a:ext uri="{FF2B5EF4-FFF2-40B4-BE49-F238E27FC236}">
                      <a16:creationId xmlns:a16="http://schemas.microsoft.com/office/drawing/2014/main" id="{420BDEB0-3B4F-C54A-B40F-5683BA17A186}"/>
                    </a:ext>
                  </a:extLst>
                </p:cNvPr>
                <p:cNvSpPr txBox="1"/>
                <p:nvPr/>
              </p:nvSpPr>
              <p:spPr>
                <a:xfrm>
                  <a:off x="345382" y="760398"/>
                  <a:ext cx="288632" cy="674862"/>
                </a:xfrm>
                <a:prstGeom prst="rect">
                  <a:avLst/>
                </a:prstGeom>
                <a:noFill/>
              </p:spPr>
              <p:txBody>
                <a:bodyPr wrap="square" rtlCol="0">
                  <a:spAutoFit/>
                </a:bodyPr>
                <a:lstStyle/>
                <a:p>
                  <a:pPr algn="l"/>
                  <a:r>
                    <a:rPr lang="en-US" altLang="zh-CN" sz="1400" dirty="0">
                      <a:latin typeface="微软雅黑" panose="020B0503020204020204" pitchFamily="34" charset="-122"/>
                      <a:ea typeface="微软雅黑" panose="020B0503020204020204" pitchFamily="34" charset="-122"/>
                    </a:rPr>
                    <a:t>C</a:t>
                  </a:r>
                  <a:endParaRPr lang="zh-CN" altLang="en-US" sz="140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AB382332-23C1-DDA4-0A10-ABA5F6481D83}"/>
                    </a:ext>
                  </a:extLst>
                </p:cNvPr>
                <p:cNvSpPr txBox="1"/>
                <p:nvPr/>
              </p:nvSpPr>
              <p:spPr>
                <a:xfrm>
                  <a:off x="5766918" y="760398"/>
                  <a:ext cx="288632" cy="674862"/>
                </a:xfrm>
                <a:prstGeom prst="rect">
                  <a:avLst/>
                </a:prstGeom>
                <a:noFill/>
              </p:spPr>
              <p:txBody>
                <a:bodyPr wrap="square" rtlCol="0">
                  <a:spAutoFit/>
                </a:bodyPr>
                <a:lstStyle/>
                <a:p>
                  <a:pPr algn="l"/>
                  <a:r>
                    <a:rPr lang="en-US" altLang="zh-CN" sz="1400" dirty="0">
                      <a:latin typeface="微软雅黑" panose="020B0503020204020204" pitchFamily="34" charset="-122"/>
                      <a:ea typeface="微软雅黑" panose="020B0503020204020204" pitchFamily="34" charset="-122"/>
                    </a:rPr>
                    <a:t>D</a:t>
                  </a:r>
                  <a:endParaRPr lang="zh-CN" altLang="en-US" sz="1400" dirty="0">
                    <a:latin typeface="微软雅黑" panose="020B0503020204020204" pitchFamily="34" charset="-122"/>
                    <a:ea typeface="微软雅黑" panose="020B0503020204020204" pitchFamily="34" charset="-122"/>
                  </a:endParaRPr>
                </a:p>
              </p:txBody>
            </p:sp>
          </p:grpSp>
          <p:pic>
            <p:nvPicPr>
              <p:cNvPr id="15" name="图片 14">
                <a:extLst>
                  <a:ext uri="{FF2B5EF4-FFF2-40B4-BE49-F238E27FC236}">
                    <a16:creationId xmlns:a16="http://schemas.microsoft.com/office/drawing/2014/main" id="{FFB57430-2845-8918-1D4B-686416A225D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03200" y="3815852"/>
                <a:ext cx="4787999" cy="2956716"/>
              </a:xfrm>
              <a:prstGeom prst="rect">
                <a:avLst/>
              </a:prstGeom>
            </p:spPr>
          </p:pic>
          <p:pic>
            <p:nvPicPr>
              <p:cNvPr id="16" name="图片 15">
                <a:extLst>
                  <a:ext uri="{FF2B5EF4-FFF2-40B4-BE49-F238E27FC236}">
                    <a16:creationId xmlns:a16="http://schemas.microsoft.com/office/drawing/2014/main" id="{2A51404D-93EB-4380-773A-04967FB51D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6714" y="3784271"/>
                <a:ext cx="4788000" cy="2956715"/>
              </a:xfrm>
              <a:prstGeom prst="rect">
                <a:avLst/>
              </a:prstGeom>
            </p:spPr>
          </p:pic>
        </p:grpSp>
        <p:sp>
          <p:nvSpPr>
            <p:cNvPr id="21" name="文本框 20">
              <a:extLst>
                <a:ext uri="{FF2B5EF4-FFF2-40B4-BE49-F238E27FC236}">
                  <a16:creationId xmlns:a16="http://schemas.microsoft.com/office/drawing/2014/main" id="{F0443202-E3BF-5F93-D528-6F7C30417DC1}"/>
                </a:ext>
              </a:extLst>
            </p:cNvPr>
            <p:cNvSpPr txBox="1"/>
            <p:nvPr/>
          </p:nvSpPr>
          <p:spPr>
            <a:xfrm>
              <a:off x="11018520" y="3892487"/>
              <a:ext cx="1104900" cy="338554"/>
            </a:xfrm>
            <a:prstGeom prst="rect">
              <a:avLst/>
            </a:prstGeom>
            <a:noFill/>
          </p:spPr>
          <p:txBody>
            <a:bodyPr wrap="square" rtlCol="0">
              <a:spAutoFit/>
            </a:bodyPr>
            <a:lstStyle/>
            <a:p>
              <a:r>
                <a:rPr lang="zh-CN" altLang="en-US" sz="1600" dirty="0">
                  <a:solidFill>
                    <a:schemeClr val="tx1">
                      <a:lumMod val="65000"/>
                      <a:lumOff val="35000"/>
                    </a:schemeClr>
                  </a:solidFill>
                  <a:latin typeface="宋体" panose="02010600030101010101" pitchFamily="2" charset="-122"/>
                  <a:ea typeface="宋体" panose="02010600030101010101" pitchFamily="2" charset="-122"/>
                </a:rPr>
                <a:t>任务有关</a:t>
              </a:r>
            </a:p>
          </p:txBody>
        </p:sp>
        <p:sp>
          <p:nvSpPr>
            <p:cNvPr id="22" name="文本框 21">
              <a:extLst>
                <a:ext uri="{FF2B5EF4-FFF2-40B4-BE49-F238E27FC236}">
                  <a16:creationId xmlns:a16="http://schemas.microsoft.com/office/drawing/2014/main" id="{4210DC34-F48C-0BE6-347F-FF5E9A751AE9}"/>
                </a:ext>
              </a:extLst>
            </p:cNvPr>
            <p:cNvSpPr txBox="1"/>
            <p:nvPr/>
          </p:nvSpPr>
          <p:spPr>
            <a:xfrm>
              <a:off x="11018520" y="5611209"/>
              <a:ext cx="1104900" cy="338554"/>
            </a:xfrm>
            <a:prstGeom prst="rect">
              <a:avLst/>
            </a:prstGeom>
            <a:noFill/>
          </p:spPr>
          <p:txBody>
            <a:bodyPr wrap="square" rtlCol="0">
              <a:spAutoFit/>
            </a:bodyPr>
            <a:lstStyle/>
            <a:p>
              <a:r>
                <a:rPr lang="zh-CN" altLang="en-US" sz="1600" dirty="0">
                  <a:solidFill>
                    <a:schemeClr val="tx1">
                      <a:lumMod val="65000"/>
                      <a:lumOff val="35000"/>
                    </a:schemeClr>
                  </a:solidFill>
                  <a:latin typeface="宋体" panose="02010600030101010101" pitchFamily="2" charset="-122"/>
                  <a:ea typeface="宋体" panose="02010600030101010101" pitchFamily="2" charset="-122"/>
                </a:rPr>
                <a:t>任务无关</a:t>
              </a:r>
            </a:p>
          </p:txBody>
        </p:sp>
        <p:sp>
          <p:nvSpPr>
            <p:cNvPr id="24" name="文本框 23">
              <a:extLst>
                <a:ext uri="{FF2B5EF4-FFF2-40B4-BE49-F238E27FC236}">
                  <a16:creationId xmlns:a16="http://schemas.microsoft.com/office/drawing/2014/main" id="{C3551E1B-D705-0BC6-1DD7-A9688125D184}"/>
                </a:ext>
              </a:extLst>
            </p:cNvPr>
            <p:cNvSpPr txBox="1"/>
            <p:nvPr/>
          </p:nvSpPr>
          <p:spPr>
            <a:xfrm>
              <a:off x="7839243" y="6480749"/>
              <a:ext cx="1104900" cy="338554"/>
            </a:xfrm>
            <a:prstGeom prst="rect">
              <a:avLst/>
            </a:prstGeom>
            <a:noFill/>
          </p:spPr>
          <p:txBody>
            <a:bodyPr wrap="square" rtlCol="0">
              <a:spAutoFit/>
            </a:bodyPr>
            <a:lstStyle/>
            <a:p>
              <a:r>
                <a:rPr lang="zh-CN" altLang="en-US" sz="1600" dirty="0">
                  <a:solidFill>
                    <a:schemeClr val="tx1">
                      <a:lumMod val="65000"/>
                      <a:lumOff val="35000"/>
                    </a:schemeClr>
                  </a:solidFill>
                  <a:latin typeface="宋体" panose="02010600030101010101" pitchFamily="2" charset="-122"/>
                  <a:ea typeface="宋体" panose="02010600030101010101" pitchFamily="2" charset="-122"/>
                </a:rPr>
                <a:t>实验</a:t>
              </a:r>
              <a:r>
                <a:rPr lang="en-US" altLang="zh-CN" sz="1600" dirty="0">
                  <a:solidFill>
                    <a:schemeClr val="tx1">
                      <a:lumMod val="65000"/>
                      <a:lumOff val="35000"/>
                    </a:schemeClr>
                  </a:solidFill>
                  <a:latin typeface="宋体" panose="02010600030101010101" pitchFamily="2" charset="-122"/>
                  <a:ea typeface="宋体" panose="02010600030101010101" pitchFamily="2" charset="-122"/>
                </a:rPr>
                <a:t>2</a:t>
              </a:r>
              <a:r>
                <a:rPr lang="zh-CN" altLang="en-US" sz="1600" dirty="0">
                  <a:solidFill>
                    <a:schemeClr val="tx1">
                      <a:lumMod val="65000"/>
                      <a:lumOff val="35000"/>
                    </a:schemeClr>
                  </a:solidFill>
                  <a:latin typeface="宋体" panose="02010600030101010101" pitchFamily="2" charset="-122"/>
                  <a:ea typeface="宋体" panose="02010600030101010101" pitchFamily="2" charset="-122"/>
                </a:rPr>
                <a:t>结果</a:t>
              </a:r>
            </a:p>
          </p:txBody>
        </p:sp>
      </p:grpSp>
    </p:spTree>
    <p:extLst>
      <p:ext uri="{BB962C8B-B14F-4D97-AF65-F5344CB8AC3E}">
        <p14:creationId xmlns:p14="http://schemas.microsoft.com/office/powerpoint/2010/main" val="606459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B9838-3BFE-F552-16C2-2BD6063FD72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9B35036-8468-C7FC-EC4B-62099A610B6E}"/>
              </a:ext>
            </a:extLst>
          </p:cNvPr>
          <p:cNvSpPr>
            <a:spLocks noGrp="1"/>
          </p:cNvSpPr>
          <p:nvPr>
            <p:ph type="title"/>
          </p:nvPr>
        </p:nvSpPr>
        <p:spPr/>
        <p:txBody>
          <a:bodyPr/>
          <a:lstStyle/>
          <a:p>
            <a:r>
              <a:rPr lang="en-US" altLang="zh-CN" dirty="0">
                <a:latin typeface="宋体" panose="02010600030101010101" pitchFamily="2" charset="-122"/>
                <a:ea typeface="宋体" panose="02010600030101010101" pitchFamily="2" charset="-122"/>
              </a:rPr>
              <a:t>Part3</a:t>
            </a:r>
            <a:r>
              <a:rPr lang="zh-CN" altLang="en-US" dirty="0">
                <a:latin typeface="宋体" panose="02010600030101010101" pitchFamily="2" charset="-122"/>
                <a:ea typeface="宋体" panose="02010600030101010101" pitchFamily="2" charset="-122"/>
              </a:rPr>
              <a:t>：文件夹管理</a:t>
            </a:r>
          </a:p>
        </p:txBody>
      </p:sp>
    </p:spTree>
    <p:extLst>
      <p:ext uri="{BB962C8B-B14F-4D97-AF65-F5344CB8AC3E}">
        <p14:creationId xmlns:p14="http://schemas.microsoft.com/office/powerpoint/2010/main" val="3034255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C21C9CB-F389-0AC6-3831-2CD1B8B1C650}"/>
              </a:ext>
            </a:extLst>
          </p:cNvPr>
          <p:cNvPicPr>
            <a:picLocks noChangeAspect="1"/>
          </p:cNvPicPr>
          <p:nvPr/>
        </p:nvPicPr>
        <p:blipFill>
          <a:blip r:embed="rId2"/>
          <a:stretch>
            <a:fillRect/>
          </a:stretch>
        </p:blipFill>
        <p:spPr>
          <a:xfrm>
            <a:off x="6742646" y="0"/>
            <a:ext cx="5366588" cy="6858000"/>
          </a:xfrm>
          <a:prstGeom prst="rect">
            <a:avLst/>
          </a:prstGeom>
        </p:spPr>
      </p:pic>
      <p:pic>
        <p:nvPicPr>
          <p:cNvPr id="4" name="图片 3">
            <a:extLst>
              <a:ext uri="{FF2B5EF4-FFF2-40B4-BE49-F238E27FC236}">
                <a16:creationId xmlns:a16="http://schemas.microsoft.com/office/drawing/2014/main" id="{5A60351C-8241-8C3D-0EB7-9D3FF07D171C}"/>
              </a:ext>
            </a:extLst>
          </p:cNvPr>
          <p:cNvPicPr>
            <a:picLocks noChangeAspect="1"/>
          </p:cNvPicPr>
          <p:nvPr/>
        </p:nvPicPr>
        <p:blipFill>
          <a:blip r:embed="rId3"/>
          <a:srcRect l="19750" t="15872"/>
          <a:stretch>
            <a:fillRect/>
          </a:stretch>
        </p:blipFill>
        <p:spPr>
          <a:xfrm>
            <a:off x="261551" y="1699260"/>
            <a:ext cx="6389655" cy="3643341"/>
          </a:xfrm>
          <a:prstGeom prst="rect">
            <a:avLst/>
          </a:prstGeom>
        </p:spPr>
      </p:pic>
      <p:sp>
        <p:nvSpPr>
          <p:cNvPr id="5" name="标题 8">
            <a:extLst>
              <a:ext uri="{FF2B5EF4-FFF2-40B4-BE49-F238E27FC236}">
                <a16:creationId xmlns:a16="http://schemas.microsoft.com/office/drawing/2014/main" id="{B955EAE5-BF29-6714-C89F-3BD74D1FA021}"/>
              </a:ext>
            </a:extLst>
          </p:cNvPr>
          <p:cNvSpPr txBox="1">
            <a:spLocks/>
          </p:cNvSpPr>
          <p:nvPr/>
        </p:nvSpPr>
        <p:spPr>
          <a:xfrm>
            <a:off x="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宋体" panose="02010600030101010101" pitchFamily="2" charset="-122"/>
                <a:ea typeface="宋体" panose="02010600030101010101" pitchFamily="2" charset="-122"/>
              </a:rPr>
              <a:t>文件夹结构</a:t>
            </a:r>
          </a:p>
        </p:txBody>
      </p:sp>
    </p:spTree>
    <p:extLst>
      <p:ext uri="{BB962C8B-B14F-4D97-AF65-F5344CB8AC3E}">
        <p14:creationId xmlns:p14="http://schemas.microsoft.com/office/powerpoint/2010/main" val="1179355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56A4CB5-8D16-BD1B-BE2E-ED986260F548}"/>
              </a:ext>
            </a:extLst>
          </p:cNvPr>
          <p:cNvPicPr>
            <a:picLocks noChangeAspect="1"/>
          </p:cNvPicPr>
          <p:nvPr/>
        </p:nvPicPr>
        <p:blipFill>
          <a:blip r:embed="rId2"/>
          <a:stretch>
            <a:fillRect/>
          </a:stretch>
        </p:blipFill>
        <p:spPr>
          <a:xfrm>
            <a:off x="1670165" y="1426998"/>
            <a:ext cx="8121535" cy="4829021"/>
          </a:xfrm>
          <a:prstGeom prst="rect">
            <a:avLst/>
          </a:prstGeom>
        </p:spPr>
      </p:pic>
      <p:sp>
        <p:nvSpPr>
          <p:cNvPr id="3" name="标题 8">
            <a:extLst>
              <a:ext uri="{FF2B5EF4-FFF2-40B4-BE49-F238E27FC236}">
                <a16:creationId xmlns:a16="http://schemas.microsoft.com/office/drawing/2014/main" id="{E4D88DFA-0286-65C2-AC57-08ACD70AABEF}"/>
              </a:ext>
            </a:extLst>
          </p:cNvPr>
          <p:cNvSpPr txBox="1">
            <a:spLocks/>
          </p:cNvSpPr>
          <p:nvPr/>
        </p:nvSpPr>
        <p:spPr>
          <a:xfrm>
            <a:off x="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dirty="0" err="1">
                <a:latin typeface="Times New Roman" panose="02020603050405020304" pitchFamily="18" charset="0"/>
                <a:ea typeface="宋体" panose="02010600030101010101" pitchFamily="2" charset="-122"/>
                <a:cs typeface="Times New Roman" panose="02020603050405020304" pitchFamily="18" charset="0"/>
              </a:rPr>
              <a:t>Github</a:t>
            </a:r>
            <a:r>
              <a:rPr lang="en-US" altLang="zh-CN" sz="4800" dirty="0">
                <a:latin typeface="Times New Roman" panose="02020603050405020304" pitchFamily="18" charset="0"/>
                <a:ea typeface="宋体" panose="02010600030101010101" pitchFamily="2" charset="-122"/>
                <a:cs typeface="Times New Roman" panose="02020603050405020304" pitchFamily="18" charset="0"/>
              </a:rPr>
              <a:t> contributions</a:t>
            </a:r>
            <a:endParaRPr lang="zh-CN" altLang="en-US" sz="48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5376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902EA-3354-E0CE-CFAA-F884A1963F0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097F6BA-D5D6-D1DE-8744-60990391252C}"/>
              </a:ext>
            </a:extLst>
          </p:cNvPr>
          <p:cNvSpPr>
            <a:spLocks noGrp="1"/>
          </p:cNvSpPr>
          <p:nvPr>
            <p:ph type="title"/>
          </p:nvPr>
        </p:nvSpPr>
        <p:spPr/>
        <p:txBody>
          <a:bodyPr/>
          <a:lstStyle/>
          <a:p>
            <a:r>
              <a:rPr lang="en-US" altLang="zh-CN" dirty="0">
                <a:latin typeface="宋体" panose="02010600030101010101" pitchFamily="2" charset="-122"/>
                <a:ea typeface="宋体" panose="02010600030101010101" pitchFamily="2" charset="-122"/>
              </a:rPr>
              <a:t>Part4</a:t>
            </a:r>
            <a:r>
              <a:rPr lang="zh-CN" altLang="en-US" dirty="0">
                <a:latin typeface="宋体" panose="02010600030101010101" pitchFamily="2" charset="-122"/>
                <a:ea typeface="宋体" panose="02010600030101010101" pitchFamily="2" charset="-122"/>
              </a:rPr>
              <a:t>：诚邀新成员加入</a:t>
            </a:r>
          </a:p>
        </p:txBody>
      </p:sp>
    </p:spTree>
    <p:extLst>
      <p:ext uri="{BB962C8B-B14F-4D97-AF65-F5344CB8AC3E}">
        <p14:creationId xmlns:p14="http://schemas.microsoft.com/office/powerpoint/2010/main" val="2095205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E84FB-CE6B-8747-A804-58CE5B9566CC}"/>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4D9C4340-1DAD-EC43-7209-D7F4AADEC754}"/>
              </a:ext>
            </a:extLst>
          </p:cNvPr>
          <p:cNvSpPr>
            <a:spLocks noGrp="1"/>
          </p:cNvSpPr>
          <p:nvPr>
            <p:ph type="title" idx="4294967295"/>
          </p:nvPr>
        </p:nvSpPr>
        <p:spPr>
          <a:xfrm>
            <a:off x="0" y="0"/>
            <a:ext cx="10515600" cy="1325563"/>
          </a:xfrm>
        </p:spPr>
        <p:txBody>
          <a:bodyPr/>
          <a:lstStyle/>
          <a:p>
            <a:r>
              <a:rPr lang="zh-CN" altLang="en-US" dirty="0">
                <a:latin typeface="宋体" panose="02010600030101010101" pitchFamily="2" charset="-122"/>
                <a:ea typeface="宋体" panose="02010600030101010101" pitchFamily="2" charset="-122"/>
              </a:rPr>
              <a:t>你会获得：</a:t>
            </a:r>
          </a:p>
        </p:txBody>
      </p:sp>
      <p:sp>
        <p:nvSpPr>
          <p:cNvPr id="4" name="内容占位符 3">
            <a:extLst>
              <a:ext uri="{FF2B5EF4-FFF2-40B4-BE49-F238E27FC236}">
                <a16:creationId xmlns:a16="http://schemas.microsoft.com/office/drawing/2014/main" id="{628C9A91-233A-0BDD-ABB5-E23D30FD7F23}"/>
              </a:ext>
            </a:extLst>
          </p:cNvPr>
          <p:cNvSpPr>
            <a:spLocks noGrp="1"/>
          </p:cNvSpPr>
          <p:nvPr>
            <p:ph idx="4294967295"/>
          </p:nvPr>
        </p:nvSpPr>
        <p:spPr>
          <a:xfrm>
            <a:off x="154641" y="1296988"/>
            <a:ext cx="11907184" cy="4832879"/>
          </a:xfrm>
        </p:spPr>
        <p:txBody>
          <a:bodyPr>
            <a:normAutofit/>
          </a:bodyPr>
          <a:lstStyle/>
          <a:p>
            <a:pPr>
              <a:lnSpc>
                <a:spcPct val="150000"/>
              </a:lnSpc>
            </a:pP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使用</a:t>
            </a:r>
            <a:r>
              <a:rPr lang="en-US" altLang="zh-CN" sz="2000" b="1" dirty="0" err="1">
                <a:solidFill>
                  <a:schemeClr val="tx1">
                    <a:lumMod val="65000"/>
                    <a:lumOff val="35000"/>
                  </a:schemeClr>
                </a:solidFill>
                <a:latin typeface="宋体" panose="02010600030101010101" pitchFamily="2" charset="-122"/>
                <a:ea typeface="宋体" panose="02010600030101010101" pitchFamily="2" charset="-122"/>
              </a:rPr>
              <a:t>Jspsych</a:t>
            </a: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编写在线程序的代码；</a:t>
            </a:r>
            <a:endParaRPr lang="en-US" altLang="zh-CN" sz="2000" b="1" dirty="0">
              <a:solidFill>
                <a:schemeClr val="tx1">
                  <a:lumMod val="65000"/>
                  <a:lumOff val="35000"/>
                </a:schemeClr>
              </a:solidFill>
              <a:latin typeface="宋体" panose="02010600030101010101" pitchFamily="2" charset="-122"/>
              <a:ea typeface="宋体" panose="02010600030101010101" pitchFamily="2" charset="-122"/>
            </a:endParaRPr>
          </a:p>
          <a:p>
            <a:pPr>
              <a:lnSpc>
                <a:spcPct val="150000"/>
              </a:lnSpc>
            </a:pP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线上收集数据的操作手册以及数据收集经验；</a:t>
            </a:r>
            <a:endParaRPr lang="en-US" altLang="zh-CN" sz="2000" b="1" dirty="0">
              <a:solidFill>
                <a:schemeClr val="tx1">
                  <a:lumMod val="65000"/>
                  <a:lumOff val="35000"/>
                </a:schemeClr>
              </a:solidFill>
              <a:latin typeface="宋体" panose="02010600030101010101" pitchFamily="2" charset="-122"/>
              <a:ea typeface="宋体" panose="02010600030101010101" pitchFamily="2" charset="-122"/>
            </a:endParaRPr>
          </a:p>
          <a:p>
            <a:pPr>
              <a:lnSpc>
                <a:spcPct val="150000"/>
              </a:lnSpc>
            </a:pP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基于</a:t>
            </a:r>
            <a:r>
              <a:rPr lang="en-US" altLang="zh-CN" sz="2000" b="1" dirty="0">
                <a:solidFill>
                  <a:schemeClr val="tx1">
                    <a:lumMod val="65000"/>
                    <a:lumOff val="35000"/>
                  </a:schemeClr>
                </a:solidFill>
                <a:latin typeface="宋体" panose="02010600030101010101" pitchFamily="2" charset="-122"/>
                <a:ea typeface="宋体" panose="02010600030101010101" pitchFamily="2" charset="-122"/>
              </a:rPr>
              <a:t>BRMs</a:t>
            </a: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进行贝叶斯层级模型分析的数据分析经验；</a:t>
            </a:r>
            <a:endParaRPr lang="en-US" altLang="zh-CN" sz="2000" b="1" dirty="0">
              <a:solidFill>
                <a:schemeClr val="tx1">
                  <a:lumMod val="65000"/>
                  <a:lumOff val="35000"/>
                </a:schemeClr>
              </a:solidFill>
              <a:latin typeface="宋体" panose="02010600030101010101" pitchFamily="2" charset="-122"/>
              <a:ea typeface="宋体" panose="02010600030101010101" pitchFamily="2" charset="-122"/>
            </a:endParaRPr>
          </a:p>
          <a:p>
            <a:pPr>
              <a:lnSpc>
                <a:spcPct val="150000"/>
              </a:lnSpc>
            </a:pPr>
            <a:r>
              <a:rPr lang="zh-CN" altLang="en-US" sz="2000" b="1" dirty="0">
                <a:solidFill>
                  <a:schemeClr val="tx1">
                    <a:lumMod val="65000"/>
                    <a:lumOff val="35000"/>
                  </a:schemeClr>
                </a:solidFill>
                <a:latin typeface="宋体" panose="02010600030101010101" pitchFamily="2" charset="-122"/>
                <a:ea typeface="宋体" panose="02010600030101010101" pitchFamily="2" charset="-122"/>
              </a:rPr>
              <a:t>后续的论文发表</a:t>
            </a:r>
            <a:endParaRPr lang="en-US" altLang="zh-CN" sz="2000" b="1" dirty="0">
              <a:solidFill>
                <a:schemeClr val="tx1">
                  <a:lumMod val="65000"/>
                  <a:lumOff val="3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30005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1F337E-E4C5-6978-4DCF-DB5436B58474}"/>
              </a:ext>
            </a:extLst>
          </p:cNvPr>
          <p:cNvSpPr txBox="1">
            <a:spLocks/>
          </p:cNvSpPr>
          <p:nvPr/>
        </p:nvSpPr>
        <p:spPr>
          <a:xfrm>
            <a:off x="4561205" y="3068479"/>
            <a:ext cx="3069590" cy="72104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微软雅黑" panose="020B0503020204020204" pitchFamily="34" charset="-122"/>
                <a:ea typeface="微软雅黑" panose="020B0503020204020204" pitchFamily="34" charset="-122"/>
              </a:rPr>
              <a:t>谢谢大家！</a:t>
            </a:r>
          </a:p>
        </p:txBody>
      </p:sp>
    </p:spTree>
    <p:extLst>
      <p:ext uri="{BB962C8B-B14F-4D97-AF65-F5344CB8AC3E}">
        <p14:creationId xmlns:p14="http://schemas.microsoft.com/office/powerpoint/2010/main" val="41394496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themeOverride>
</file>

<file path=ppt/theme/themeOverride2.xml><?xml version="1.0" encoding="utf-8"?>
<a:themeOverride xmlns:a="http://schemas.openxmlformats.org/drawingml/2006/main">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themeOverride>
</file>

<file path=ppt/theme/themeOverride3.xml><?xml version="1.0" encoding="utf-8"?>
<a:themeOverride xmlns:a="http://schemas.openxmlformats.org/drawingml/2006/main">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1475</TotalTime>
  <Words>531</Words>
  <Application>Microsoft Office PowerPoint</Application>
  <PresentationFormat>宽屏</PresentationFormat>
  <Paragraphs>51</Paragraphs>
  <Slides>11</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11</vt:i4>
      </vt:variant>
    </vt:vector>
  </HeadingPairs>
  <TitlesOfParts>
    <vt:vector size="20" baseType="lpstr">
      <vt:lpstr>等线</vt:lpstr>
      <vt:lpstr>等线 Light</vt:lpstr>
      <vt:lpstr>宋体</vt:lpstr>
      <vt:lpstr>微软雅黑</vt:lpstr>
      <vt:lpstr>Arial</vt:lpstr>
      <vt:lpstr>Times New Roman</vt:lpstr>
      <vt:lpstr>Wingdings</vt:lpstr>
      <vt:lpstr>Office 主题​​</vt:lpstr>
      <vt:lpstr>1_Office 主题​​</vt:lpstr>
      <vt:lpstr>自我优势效应何时出现？ </vt:lpstr>
      <vt:lpstr>Part1：项目简介</vt:lpstr>
      <vt:lpstr>研究问题&amp;目标</vt:lpstr>
      <vt:lpstr>Part2：研究进展</vt:lpstr>
      <vt:lpstr>研究进展&amp;TO DO</vt:lpstr>
      <vt:lpstr>Part3：文件夹管理</vt:lpstr>
      <vt:lpstr>PowerPoint 演示文稿</vt:lpstr>
      <vt:lpstr>PowerPoint 演示文稿</vt:lpstr>
      <vt:lpstr>Part4：诚邀新成员加入</vt:lpstr>
      <vt:lpstr>你会获得：</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 Jiaqi</dc:creator>
  <cp:lastModifiedBy>Jiaqi Wu</cp:lastModifiedBy>
  <cp:revision>165</cp:revision>
  <dcterms:created xsi:type="dcterms:W3CDTF">2023-07-04T04:51:35Z</dcterms:created>
  <dcterms:modified xsi:type="dcterms:W3CDTF">2026-01-18T13:14:00Z</dcterms:modified>
</cp:coreProperties>
</file>