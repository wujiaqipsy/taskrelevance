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12"/>
  </p:notesMasterIdLst>
  <p:sldIdLst>
    <p:sldId id="298" r:id="rId3"/>
    <p:sldId id="304" r:id="rId4"/>
    <p:sldId id="256" r:id="rId5"/>
    <p:sldId id="303" r:id="rId6"/>
    <p:sldId id="311" r:id="rId7"/>
    <p:sldId id="306" r:id="rId8"/>
    <p:sldId id="312" r:id="rId9"/>
    <p:sldId id="313" r:id="rId10"/>
    <p:sldId id="30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D1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98" autoAdjust="0"/>
  </p:normalViewPr>
  <p:slideViewPr>
    <p:cSldViewPr snapToGrid="0" showGuides="1">
      <p:cViewPr varScale="1">
        <p:scale>
          <a:sx n="84" d="100"/>
          <a:sy n="84" d="100"/>
        </p:scale>
        <p:origin x="8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FBBD7-9283-4C49-8316-22130DABA4DF}" type="datetimeFigureOut">
              <a:rPr lang="zh-CN" altLang="en-US" smtClean="0"/>
              <a:t>2026/1/18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21C67-7CF2-4365-9654-A803E7E3626D}" type="slidenum">
              <a:rPr lang="zh-CN" altLang="en-US" smtClean="0"/>
              <a:t>‹#›</a:t>
            </a:fld>
            <a:endParaRPr lang="zh-CN" altLang="en-US"/>
          </a:p>
        </p:txBody>
      </p:sp>
    </p:spTree>
    <p:extLst>
      <p:ext uri="{BB962C8B-B14F-4D97-AF65-F5344CB8AC3E}">
        <p14:creationId xmlns:p14="http://schemas.microsoft.com/office/powerpoint/2010/main" val="154103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721C67-7CF2-4365-9654-A803E7E3626D}" type="slidenum">
              <a:rPr lang="zh-CN" altLang="en-US" smtClean="0"/>
              <a:t>1</a:t>
            </a:fld>
            <a:endParaRPr lang="zh-CN" altLang="en-US"/>
          </a:p>
        </p:txBody>
      </p:sp>
    </p:spTree>
    <p:extLst>
      <p:ext uri="{BB962C8B-B14F-4D97-AF65-F5344CB8AC3E}">
        <p14:creationId xmlns:p14="http://schemas.microsoft.com/office/powerpoint/2010/main" val="3078160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为了研究这个问题，设置了三项实验。实验</a:t>
            </a:r>
            <a:r>
              <a:rPr lang="en-US" altLang="zh-CN" dirty="0"/>
              <a:t>1</a:t>
            </a:r>
            <a:r>
              <a:rPr lang="zh-CN" altLang="en-US" dirty="0"/>
              <a:t>是在自我与任务有关的情况下，探究自我作为任务目标与非任务目标时的</a:t>
            </a:r>
            <a:r>
              <a:rPr lang="en-US" altLang="zh-CN" dirty="0"/>
              <a:t>SPE</a:t>
            </a:r>
            <a:r>
              <a:rPr lang="zh-CN" altLang="en-US" dirty="0"/>
              <a:t>；由于实验</a:t>
            </a:r>
            <a:r>
              <a:rPr lang="en-US" altLang="zh-CN" dirty="0"/>
              <a:t>1</a:t>
            </a:r>
            <a:r>
              <a:rPr lang="zh-CN" altLang="en-US" dirty="0"/>
              <a:t>中，自我不是任务目标时，完成任务需要抑制自我信息加工，从而不会表现出自我加工优势，于是在实验</a:t>
            </a:r>
            <a:r>
              <a:rPr lang="en-US" altLang="zh-CN" dirty="0"/>
              <a:t>2</a:t>
            </a:r>
            <a:r>
              <a:rPr lang="zh-CN" altLang="en-US" dirty="0"/>
              <a:t>中，我们设置了自我与任务目标无关的任务，完成任务不需要抑制自我信息，旨在检验当自我与任务无关时是否会出现自我优势效应，进而探究自我与任务的相关性对自我优势效应的影响。实验</a:t>
            </a:r>
            <a:r>
              <a:rPr lang="en-US" altLang="zh-CN" dirty="0"/>
              <a:t>1</a:t>
            </a:r>
            <a:r>
              <a:rPr lang="zh-CN" altLang="en-US" dirty="0"/>
              <a:t>和实验</a:t>
            </a:r>
            <a:r>
              <a:rPr lang="en-US" altLang="zh-CN" dirty="0"/>
              <a:t>2</a:t>
            </a:r>
            <a:r>
              <a:rPr lang="zh-CN" altLang="en-US" dirty="0"/>
              <a:t>均是在认知资源充足的情况下检验任务相关性对自我优势效应的影响，实验</a:t>
            </a:r>
            <a:r>
              <a:rPr lang="en-US" altLang="zh-CN" dirty="0"/>
              <a:t>3</a:t>
            </a:r>
            <a:r>
              <a:rPr lang="zh-CN" altLang="en-US" dirty="0"/>
              <a:t>引入了认知资源匮乏场景，旨在探究不同认知负荷下，任务相关性对自我优势效应的影响。</a:t>
            </a:r>
          </a:p>
        </p:txBody>
      </p:sp>
      <p:sp>
        <p:nvSpPr>
          <p:cNvPr id="4" name="灯片编号占位符 3"/>
          <p:cNvSpPr>
            <a:spLocks noGrp="1"/>
          </p:cNvSpPr>
          <p:nvPr>
            <p:ph type="sldNum" sz="quarter" idx="5"/>
          </p:nvPr>
        </p:nvSpPr>
        <p:spPr/>
        <p:txBody>
          <a:bodyPr/>
          <a:lstStyle/>
          <a:p>
            <a:fld id="{35721C67-7CF2-4365-9654-A803E7E3626D}" type="slidenum">
              <a:rPr lang="zh-CN" altLang="en-US" smtClean="0"/>
              <a:t>3</a:t>
            </a:fld>
            <a:endParaRPr lang="zh-CN" altLang="en-US"/>
          </a:p>
        </p:txBody>
      </p:sp>
    </p:spTree>
    <p:extLst>
      <p:ext uri="{BB962C8B-B14F-4D97-AF65-F5344CB8AC3E}">
        <p14:creationId xmlns:p14="http://schemas.microsoft.com/office/powerpoint/2010/main" val="1673862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7B0E1-49BF-0476-1380-D05A2BA76B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02B0A7-22AD-5CC3-D69B-3557C02E88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EBD0A1-C7E8-1621-6A57-E66C3EECD6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7450D45-0EAC-69E6-079D-9DADF51AF9CF}"/>
              </a:ext>
            </a:extLst>
          </p:cNvPr>
          <p:cNvSpPr>
            <a:spLocks noGrp="1"/>
          </p:cNvSpPr>
          <p:nvPr>
            <p:ph type="sldNum" sz="quarter" idx="5"/>
          </p:nvPr>
        </p:nvSpPr>
        <p:spPr/>
        <p:txBody>
          <a:bodyPr/>
          <a:lstStyle/>
          <a:p>
            <a:fld id="{35721C67-7CF2-4365-9654-A803E7E3626D}" type="slidenum">
              <a:rPr lang="zh-CN" altLang="en-US" smtClean="0"/>
              <a:t>5</a:t>
            </a:fld>
            <a:endParaRPr lang="zh-CN" altLang="en-US"/>
          </a:p>
        </p:txBody>
      </p:sp>
    </p:spTree>
    <p:extLst>
      <p:ext uri="{BB962C8B-B14F-4D97-AF65-F5344CB8AC3E}">
        <p14:creationId xmlns:p14="http://schemas.microsoft.com/office/powerpoint/2010/main" val="3766367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2.xml"/><Relationship Id="rId5" Type="http://schemas.openxmlformats.org/officeDocument/2006/relationships/tags" Target="../tags/tag16.xml"/><Relationship Id="rId4"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2.xml"/><Relationship Id="rId4" Type="http://schemas.openxmlformats.org/officeDocument/2006/relationships/tags" Target="../tags/tag3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2.xml"/><Relationship Id="rId5" Type="http://schemas.openxmlformats.org/officeDocument/2006/relationships/tags" Target="../tags/tag53.xml"/><Relationship Id="rId4" Type="http://schemas.openxmlformats.org/officeDocument/2006/relationships/tags" Target="../tags/tag5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2.xml"/><Relationship Id="rId4" Type="http://schemas.openxmlformats.org/officeDocument/2006/relationships/tags" Target="../tags/tag57.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75A75-F735-525E-EBBE-BC6F8A20BC1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5AB8048-EC91-7475-6BF1-09350D1D9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6BF8411-8241-F641-939B-D62EF0CBAA4C}"/>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44C09C32-C8CE-458A-C606-83DD65D840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2EF2FF-802C-BE94-16FB-581C69DC8C69}"/>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4270578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7FB190-B25F-AB9A-79C5-4FE514067C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5BD0C3-874C-7E4F-61F1-1D6BD290E8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F95414-881F-32D8-111F-442A1943CF17}"/>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1B798B72-6D3D-00F2-4CA7-8F3D2E6CD7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284DB2-7F11-5410-C5E3-DF3B805F3597}"/>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96783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355FA6-2107-54EA-2037-1A7BFF77F00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EBF674-7CCD-35F8-F970-0B9F6575E3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19DE1EF-3DA1-2836-44B7-50272DAD9850}"/>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1D6851AD-58BB-BFBB-BA34-F86296533C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E40E7E-9051-F978-F9D2-FFA53EE2E23C}"/>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410546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148F8-3119-B7F6-E761-0040780026D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296B046-D0CE-902B-EF5A-EB165963CBD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8904753-0EB9-1AC2-F322-D790E4CE3D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1662DFF-AB1E-8988-0CBB-64F321A00D5E}"/>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3D05C371-9E05-61FF-49DC-1BD294B4A2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F3B29E7-48C1-BFD7-63D8-BF878B3A1FE9}"/>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252123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C03EB8-6AD9-E3AC-1ADA-E27B724608C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DF33893-16FC-E55D-F94A-A288B320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8ABE72D-82FD-B86F-67E8-E592794A1FD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9F8179B-837D-99D3-90DC-D4ECA5D5F6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E4B61C-C428-766B-C29B-829B6D6FFBD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93FCFA-FDF9-4EF2-A6C2-E63957B72E13}"/>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8" name="页脚占位符 7">
            <a:extLst>
              <a:ext uri="{FF2B5EF4-FFF2-40B4-BE49-F238E27FC236}">
                <a16:creationId xmlns:a16="http://schemas.microsoft.com/office/drawing/2014/main" id="{7584364E-7C6A-94B7-21C4-43501874E8B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48BE5BA-9A08-972A-7768-C2B5993C557B}"/>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9356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443274-7653-BD86-BD3D-5D91CEDB9C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D1F527-9B8E-9324-6F84-E49F3A06DC39}"/>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4" name="页脚占位符 3">
            <a:extLst>
              <a:ext uri="{FF2B5EF4-FFF2-40B4-BE49-F238E27FC236}">
                <a16:creationId xmlns:a16="http://schemas.microsoft.com/office/drawing/2014/main" id="{6B6434B8-7ECE-CA2A-8CF1-71F7556831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7CF07E1-21CF-DF11-DADB-A70D64F4A3A4}"/>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255810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4D17648-7862-3A41-E04E-53A171D0F7F2}"/>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3" name="页脚占位符 2">
            <a:extLst>
              <a:ext uri="{FF2B5EF4-FFF2-40B4-BE49-F238E27FC236}">
                <a16:creationId xmlns:a16="http://schemas.microsoft.com/office/drawing/2014/main" id="{3CBA134C-6AD7-A51C-5FD8-5B7B1269E3B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8E43484-0BBE-9925-C3F9-405F37D2B60F}"/>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83418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6B084-1450-58E6-5369-FC2B8B512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6C9DE2-7F5D-BEA1-8D89-6F4C060E0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161878F-48E5-2E7A-C2B2-6239B684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558888-6747-B475-4DD3-77B520902EFB}"/>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ED913DB6-780C-EC30-82B5-3FFCFDB164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1B111DD-84E6-D4CD-9938-99D126A688F6}"/>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77274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C0D49D-F349-C601-6C0B-9F556208254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7E61963-A4F4-0239-042C-DC0B346FE3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1581CCD-B7F8-BB12-E3E1-FAB24FB08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DE4E9C-874E-2AC3-2EDC-63EEA8F02A66}"/>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5742C24F-AE0E-B95A-A8A4-62C05DE356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185599-35EF-287C-74A8-5F8775D168F4}"/>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538394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87587-466A-1CEF-6B10-5B44639F27B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728DA0-B1E2-E1BE-F7C7-BB38E30FEB8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D28964-4E4F-4301-7719-C64AE84B6016}"/>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E0794DAC-FD44-2800-8518-0E27CE7594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3A6381-3CA7-8226-35DF-213BE72A7BEB}"/>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09833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808DE09-DB5A-9722-77D9-D2F497C33D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370CCDB-8E0C-E23E-2967-3FF34114877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2C3ECC-4789-443D-0E7A-BE18575D85E0}"/>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46CF5664-E320-C7FF-9153-C36EABC80D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FFB72A-0EFD-2B07-6AD5-2D96FF1C5092}"/>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552985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997702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309389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2210010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990FF5B7-8E42-494A-817E-7A75EF9ED1E8}" type="datetimeFigureOut">
              <a:rPr lang="zh-CN" altLang="en-US" smtClean="0"/>
              <a:t>2026/1/18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416703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990FF5B7-8E42-494A-817E-7A75EF9ED1E8}" type="datetimeFigureOut">
              <a:rPr lang="zh-CN" altLang="en-US" smtClean="0"/>
              <a:t>2026/1/18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999076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7572383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7976104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41369116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685245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489343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273358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3.xml"/><Relationship Id="rId16" Type="http://schemas.openxmlformats.org/officeDocument/2006/relationships/tags" Target="../tags/tag4.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DBCC3B8-306C-5AA2-062F-FFD3C4BA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9594212-45F0-B482-BDEE-15DBE9676F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B377B8-8462-CF10-64AB-43090B2DD6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0898F3E8-0FBE-54D5-B28C-A3B15F0336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514CBE-E7B9-BF42-EA34-3D2652737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675375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C33CEA0F-9451-499F-A37C-BBB83CFC7A69}" type="slidenum">
              <a:rPr lang="zh-CN" altLang="en-US" smtClean="0"/>
              <a:t>‹#›</a:t>
            </a:fld>
            <a:endParaRPr lang="zh-CN" altLang="en-US"/>
          </a:p>
        </p:txBody>
      </p:sp>
    </p:spTree>
    <p:custDataLst>
      <p:tags r:id="rId13"/>
    </p:custDataLst>
    <p:extLst>
      <p:ext uri="{BB962C8B-B14F-4D97-AF65-F5344CB8AC3E}">
        <p14:creationId xmlns:p14="http://schemas.microsoft.com/office/powerpoint/2010/main" val="7886735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80249-68EC-754C-94D4-C4365A417350}"/>
              </a:ext>
            </a:extLst>
          </p:cNvPr>
          <p:cNvSpPr>
            <a:spLocks noGrp="1"/>
          </p:cNvSpPr>
          <p:nvPr>
            <p:ph type="title"/>
          </p:nvPr>
        </p:nvSpPr>
        <p:spPr>
          <a:xfrm>
            <a:off x="740410" y="863918"/>
            <a:ext cx="10515600" cy="2852737"/>
          </a:xfrm>
        </p:spPr>
        <p:txBody>
          <a:bodyPr/>
          <a:lstStyle/>
          <a:p>
            <a:r>
              <a:rPr lang="zh-CN" altLang="en-US" dirty="0">
                <a:latin typeface="微软雅黑" panose="020B0503020204020204" pitchFamily="34" charset="-122"/>
                <a:ea typeface="微软雅黑" panose="020B0503020204020204" pitchFamily="34" charset="-122"/>
              </a:rPr>
              <a:t>自我优势效应何时出现？</a:t>
            </a: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
        <p:nvSpPr>
          <p:cNvPr id="10" name="文本占位符 9">
            <a:extLst>
              <a:ext uri="{FF2B5EF4-FFF2-40B4-BE49-F238E27FC236}">
                <a16:creationId xmlns:a16="http://schemas.microsoft.com/office/drawing/2014/main" id="{72E10AB6-5214-A529-2C95-B970940E4B37}"/>
              </a:ext>
            </a:extLst>
          </p:cNvPr>
          <p:cNvSpPr>
            <a:spLocks noGrp="1"/>
          </p:cNvSpPr>
          <p:nvPr>
            <p:ph type="body" idx="1"/>
          </p:nvPr>
        </p:nvSpPr>
        <p:spPr>
          <a:xfrm>
            <a:off x="740410" y="4752974"/>
            <a:ext cx="10515600" cy="1500187"/>
          </a:xfrm>
        </p:spPr>
        <p:txBody>
          <a:bodyPr/>
          <a:lstStyle/>
          <a:p>
            <a:pPr algn="r"/>
            <a:r>
              <a:rPr lang="zh-CN" altLang="en-US" dirty="0"/>
              <a:t>汇报人：伍嘉琪</a:t>
            </a:r>
            <a:endParaRPr lang="en-US" altLang="zh-CN" dirty="0"/>
          </a:p>
          <a:p>
            <a:pPr algn="r"/>
            <a:r>
              <a:rPr lang="zh-CN" altLang="en-US" dirty="0"/>
              <a:t>汇报时间：</a:t>
            </a:r>
            <a:r>
              <a:rPr lang="en-US" altLang="zh-CN" dirty="0"/>
              <a:t>2025</a:t>
            </a:r>
            <a:r>
              <a:rPr lang="zh-CN" altLang="en-US" dirty="0"/>
              <a:t>年</a:t>
            </a:r>
            <a:r>
              <a:rPr lang="en-US" altLang="zh-CN" dirty="0"/>
              <a:t>6</a:t>
            </a:r>
            <a:r>
              <a:rPr lang="zh-CN" altLang="en-US" dirty="0"/>
              <a:t>月</a:t>
            </a:r>
            <a:r>
              <a:rPr lang="en-US" altLang="zh-CN" dirty="0"/>
              <a:t>16</a:t>
            </a:r>
            <a:r>
              <a:rPr lang="zh-CN" altLang="en-US" dirty="0"/>
              <a:t>日</a:t>
            </a:r>
          </a:p>
        </p:txBody>
      </p:sp>
      <p:sp>
        <p:nvSpPr>
          <p:cNvPr id="7" name="文本框 6">
            <a:extLst>
              <a:ext uri="{FF2B5EF4-FFF2-40B4-BE49-F238E27FC236}">
                <a16:creationId xmlns:a16="http://schemas.microsoft.com/office/drawing/2014/main" id="{A337CE86-3A71-0CD3-0D06-3E3BAFAB6F57}"/>
              </a:ext>
            </a:extLst>
          </p:cNvPr>
          <p:cNvSpPr txBox="1"/>
          <p:nvPr/>
        </p:nvSpPr>
        <p:spPr>
          <a:xfrm>
            <a:off x="4999566" y="3152308"/>
            <a:ext cx="7924800" cy="830997"/>
          </a:xfrm>
          <a:prstGeom prst="rect">
            <a:avLst/>
          </a:prstGeom>
          <a:noFill/>
        </p:spPr>
        <p:txBody>
          <a:bodyPr wrap="square">
            <a:spAutoFit/>
          </a:bodyPr>
          <a:lstStyle/>
          <a:p>
            <a:r>
              <a:rPr lang="en-US" altLang="zh-CN" sz="4800" dirty="0">
                <a:solidFill>
                  <a:schemeClr val="tx1">
                    <a:lumMod val="75000"/>
                    <a:lumOff val="25000"/>
                  </a:schemeClr>
                </a:solidFill>
                <a:latin typeface="宋体" panose="02010600030101010101" pitchFamily="2" charset="-122"/>
                <a:ea typeface="宋体" panose="02010600030101010101" pitchFamily="2" charset="-122"/>
                <a:cs typeface="+mj-cs"/>
              </a:rPr>
              <a:t>——</a:t>
            </a:r>
            <a:r>
              <a:rPr lang="zh-CN" altLang="en-US" sz="4800" dirty="0">
                <a:solidFill>
                  <a:schemeClr val="tx1">
                    <a:lumMod val="75000"/>
                    <a:lumOff val="25000"/>
                  </a:schemeClr>
                </a:solidFill>
                <a:latin typeface="宋体" panose="02010600030101010101" pitchFamily="2" charset="-122"/>
                <a:ea typeface="宋体" panose="02010600030101010101" pitchFamily="2" charset="-122"/>
                <a:cs typeface="+mj-cs"/>
              </a:rPr>
              <a:t>任务相关性的影响</a:t>
            </a:r>
          </a:p>
        </p:txBody>
      </p:sp>
    </p:spTree>
    <p:extLst>
      <p:ext uri="{BB962C8B-B14F-4D97-AF65-F5344CB8AC3E}">
        <p14:creationId xmlns:p14="http://schemas.microsoft.com/office/powerpoint/2010/main" val="24223775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253B94-3A15-AE6A-C99D-E43AAD9DDA3A}"/>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Part1</a:t>
            </a:r>
            <a:r>
              <a:rPr lang="zh-CN" altLang="en-US" dirty="0">
                <a:latin typeface="宋体" panose="02010600030101010101" pitchFamily="2" charset="-122"/>
                <a:ea typeface="宋体" panose="02010600030101010101" pitchFamily="2" charset="-122"/>
              </a:rPr>
              <a:t>：项目简介</a:t>
            </a:r>
          </a:p>
        </p:txBody>
      </p:sp>
    </p:spTree>
    <p:extLst>
      <p:ext uri="{BB962C8B-B14F-4D97-AF65-F5344CB8AC3E}">
        <p14:creationId xmlns:p14="http://schemas.microsoft.com/office/powerpoint/2010/main" val="348213124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58CF9B09-CC60-D520-F971-4B7B5F4C2AA7}"/>
              </a:ext>
            </a:extLst>
          </p:cNvPr>
          <p:cNvSpPr>
            <a:spLocks noGrp="1"/>
          </p:cNvSpPr>
          <p:nvPr>
            <p:ph type="title" idx="4294967295"/>
          </p:nvPr>
        </p:nvSpPr>
        <p:spPr>
          <a:xfrm>
            <a:off x="0" y="0"/>
            <a:ext cx="10515600" cy="1325563"/>
          </a:xfrm>
        </p:spPr>
        <p:txBody>
          <a:bodyPr/>
          <a:lstStyle/>
          <a:p>
            <a:r>
              <a:rPr lang="zh-CN" altLang="en-US" dirty="0">
                <a:latin typeface="宋体" panose="02010600030101010101" pitchFamily="2" charset="-122"/>
                <a:ea typeface="宋体" panose="02010600030101010101" pitchFamily="2" charset="-122"/>
              </a:rPr>
              <a:t>研究问题</a:t>
            </a:r>
            <a:r>
              <a:rPr lang="en-US" altLang="zh-CN" dirty="0">
                <a:latin typeface="宋体" panose="02010600030101010101" pitchFamily="2" charset="-122"/>
                <a:ea typeface="宋体" panose="02010600030101010101" pitchFamily="2" charset="-122"/>
              </a:rPr>
              <a:t>&amp;</a:t>
            </a:r>
            <a:r>
              <a:rPr lang="zh-CN" altLang="en-US" dirty="0">
                <a:latin typeface="宋体" panose="02010600030101010101" pitchFamily="2" charset="-122"/>
                <a:ea typeface="宋体" panose="02010600030101010101" pitchFamily="2" charset="-122"/>
              </a:rPr>
              <a:t>目标</a:t>
            </a:r>
          </a:p>
        </p:txBody>
      </p:sp>
      <p:sp>
        <p:nvSpPr>
          <p:cNvPr id="4" name="内容占位符 3">
            <a:extLst>
              <a:ext uri="{FF2B5EF4-FFF2-40B4-BE49-F238E27FC236}">
                <a16:creationId xmlns:a16="http://schemas.microsoft.com/office/drawing/2014/main" id="{695D730A-528C-1B9F-5E62-2D1194B8E465}"/>
              </a:ext>
            </a:extLst>
          </p:cNvPr>
          <p:cNvSpPr>
            <a:spLocks noGrp="1"/>
          </p:cNvSpPr>
          <p:nvPr>
            <p:ph idx="4294967295"/>
          </p:nvPr>
        </p:nvSpPr>
        <p:spPr>
          <a:xfrm>
            <a:off x="154641" y="1296988"/>
            <a:ext cx="11907184" cy="4832879"/>
          </a:xfrm>
        </p:spPr>
        <p:txBody>
          <a:bodyPr>
            <a:normAutofit/>
          </a:bodyPr>
          <a:lstStyle/>
          <a:p>
            <a:pPr>
              <a:lnSpc>
                <a:spcPct val="150000"/>
              </a:lnSpc>
            </a:pPr>
            <a:r>
              <a:rPr lang="zh-CN" altLang="en-US" sz="2000" b="1" dirty="0">
                <a:solidFill>
                  <a:schemeClr val="tx1">
                    <a:lumMod val="85000"/>
                    <a:lumOff val="15000"/>
                  </a:schemeClr>
                </a:solidFill>
                <a:latin typeface="宋体" panose="02010600030101010101" pitchFamily="2" charset="-122"/>
                <a:ea typeface="宋体" panose="02010600030101010101" pitchFamily="2" charset="-122"/>
              </a:rPr>
              <a:t>研究问题</a:t>
            </a:r>
            <a:endParaRPr lang="en-US" altLang="zh-CN" sz="20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任务相关性是否调节自我优势效应？</a:t>
            </a:r>
            <a:endParaRPr lang="en-US" altLang="zh-CN" sz="1600" b="1" dirty="0">
              <a:solidFill>
                <a:schemeClr val="tx1">
                  <a:lumMod val="75000"/>
                  <a:lumOff val="25000"/>
                </a:schemeClr>
              </a:solidFill>
              <a:latin typeface="宋体" panose="02010600030101010101" pitchFamily="2" charset="-122"/>
              <a:ea typeface="宋体" panose="02010600030101010101" pitchFamily="2" charset="-122"/>
            </a:endParaRPr>
          </a:p>
          <a:p>
            <a:pPr>
              <a:lnSpc>
                <a:spcPct val="150000"/>
              </a:lnSpc>
            </a:pPr>
            <a:r>
              <a:rPr lang="zh-CN" altLang="en-US" sz="2000" b="1" dirty="0">
                <a:solidFill>
                  <a:schemeClr val="tx1">
                    <a:lumMod val="85000"/>
                    <a:lumOff val="15000"/>
                  </a:schemeClr>
                </a:solidFill>
                <a:latin typeface="宋体" panose="02010600030101010101" pitchFamily="2" charset="-122"/>
                <a:ea typeface="宋体" panose="02010600030101010101" pitchFamily="2" charset="-122"/>
              </a:rPr>
              <a:t>研究目标</a:t>
            </a:r>
            <a:endParaRPr lang="en-US" altLang="zh-CN" sz="20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Exp1</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：探究任务目标对自我优势效应的影响，即自我作为任务目标以及非任务目标时的自我优势效应。（自我与任务目标对立）</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Exp2</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a:t>
            </a:r>
            <a:r>
              <a:rPr lang="zh-CN" altLang="zh-CN" sz="1600" b="1" dirty="0">
                <a:solidFill>
                  <a:schemeClr val="tx1">
                    <a:lumMod val="65000"/>
                    <a:lumOff val="35000"/>
                  </a:schemeClr>
                </a:solidFill>
                <a:latin typeface="宋体" panose="02010600030101010101" pitchFamily="2" charset="-122"/>
                <a:ea typeface="宋体" panose="02010600030101010101" pitchFamily="2" charset="-122"/>
              </a:rPr>
              <a:t>探究任务相关性对自我优势效应的影响</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，即自我与任务有关以及自我与任务无关时的自我优势效应。（自我与任务目标无关）</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Exp3</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a:t>
            </a:r>
            <a:r>
              <a:rPr lang="zh-CN" altLang="zh-CN" sz="1600" b="1" dirty="0">
                <a:solidFill>
                  <a:schemeClr val="tx1">
                    <a:lumMod val="65000"/>
                    <a:lumOff val="35000"/>
                  </a:schemeClr>
                </a:solidFill>
                <a:latin typeface="宋体" panose="02010600030101010101" pitchFamily="2" charset="-122"/>
                <a:ea typeface="宋体" panose="02010600030101010101" pitchFamily="2" charset="-122"/>
              </a:rPr>
              <a:t>探究不同认知负荷下，任务相关性对自我优势效应的影响。</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5992849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08B2673-2D46-EE7B-F966-58161C6DC70C}"/>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Part2</a:t>
            </a:r>
            <a:r>
              <a:rPr lang="zh-CN" altLang="en-US" dirty="0">
                <a:latin typeface="宋体" panose="02010600030101010101" pitchFamily="2" charset="-122"/>
                <a:ea typeface="宋体" panose="02010600030101010101" pitchFamily="2" charset="-122"/>
              </a:rPr>
              <a:t>：研究进展</a:t>
            </a:r>
          </a:p>
        </p:txBody>
      </p:sp>
    </p:spTree>
    <p:extLst>
      <p:ext uri="{BB962C8B-B14F-4D97-AF65-F5344CB8AC3E}">
        <p14:creationId xmlns:p14="http://schemas.microsoft.com/office/powerpoint/2010/main" val="382225036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ACCFC-1696-EF8B-EAF9-475240CA1B0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6BFC1CA7-8ADD-3921-D0F1-11FCDAAFD351}"/>
              </a:ext>
            </a:extLst>
          </p:cNvPr>
          <p:cNvSpPr>
            <a:spLocks noGrp="1"/>
          </p:cNvSpPr>
          <p:nvPr>
            <p:ph type="title" idx="4294967295"/>
          </p:nvPr>
        </p:nvSpPr>
        <p:spPr>
          <a:xfrm>
            <a:off x="0" y="0"/>
            <a:ext cx="10515600" cy="1325563"/>
          </a:xfrm>
        </p:spPr>
        <p:txBody>
          <a:bodyPr/>
          <a:lstStyle/>
          <a:p>
            <a:r>
              <a:rPr lang="zh-CN" altLang="en-US" dirty="0">
                <a:latin typeface="宋体" panose="02010600030101010101" pitchFamily="2" charset="-122"/>
                <a:ea typeface="宋体" panose="02010600030101010101" pitchFamily="2" charset="-122"/>
              </a:rPr>
              <a:t>研究进展</a:t>
            </a:r>
            <a:r>
              <a:rPr lang="en-US" altLang="zh-CN" dirty="0">
                <a:latin typeface="宋体" panose="02010600030101010101" pitchFamily="2" charset="-122"/>
                <a:ea typeface="宋体" panose="02010600030101010101" pitchFamily="2" charset="-122"/>
              </a:rPr>
              <a:t>&amp;TO DO</a:t>
            </a:r>
            <a:endParaRPr lang="zh-CN" altLang="en-US" dirty="0">
              <a:latin typeface="宋体" panose="02010600030101010101" pitchFamily="2" charset="-122"/>
              <a:ea typeface="宋体" panose="02010600030101010101" pitchFamily="2" charset="-122"/>
            </a:endParaRPr>
          </a:p>
        </p:txBody>
      </p:sp>
      <p:sp>
        <p:nvSpPr>
          <p:cNvPr id="4" name="内容占位符 3">
            <a:extLst>
              <a:ext uri="{FF2B5EF4-FFF2-40B4-BE49-F238E27FC236}">
                <a16:creationId xmlns:a16="http://schemas.microsoft.com/office/drawing/2014/main" id="{790FB6BB-71ED-A1FA-9ABC-81911018B1E7}"/>
              </a:ext>
            </a:extLst>
          </p:cNvPr>
          <p:cNvSpPr>
            <a:spLocks noGrp="1"/>
          </p:cNvSpPr>
          <p:nvPr>
            <p:ph idx="4294967295"/>
          </p:nvPr>
        </p:nvSpPr>
        <p:spPr>
          <a:xfrm>
            <a:off x="154641" y="1296988"/>
            <a:ext cx="11907184" cy="4832879"/>
          </a:xfrm>
        </p:spPr>
        <p:txBody>
          <a:bodyPr>
            <a:normAutofit fontScale="85000" lnSpcReduction="10000"/>
          </a:bodyPr>
          <a:lstStyle/>
          <a:p>
            <a:pPr>
              <a:lnSpc>
                <a:spcPct val="150000"/>
              </a:lnSpc>
            </a:pPr>
            <a:r>
              <a:rPr lang="zh-CN" altLang="en-US" sz="2400" b="1" dirty="0">
                <a:solidFill>
                  <a:schemeClr val="tx1">
                    <a:lumMod val="85000"/>
                    <a:lumOff val="15000"/>
                  </a:schemeClr>
                </a:solidFill>
                <a:latin typeface="宋体" panose="02010600030101010101" pitchFamily="2" charset="-122"/>
                <a:ea typeface="宋体" panose="02010600030101010101" pitchFamily="2" charset="-122"/>
              </a:rPr>
              <a:t>上学期已完成：</a:t>
            </a:r>
            <a:endParaRPr lang="en-US" altLang="zh-CN" sz="24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开题：三项实验设计</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1</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：程序编写、数据收集 </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&amp; </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分析</a:t>
            </a: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2</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：程序编写 </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&amp; </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预实验</a:t>
            </a:r>
            <a:endParaRPr lang="en-US" altLang="zh-CN" sz="1800" b="1" dirty="0">
              <a:solidFill>
                <a:schemeClr val="tx1">
                  <a:lumMod val="75000"/>
                  <a:lumOff val="25000"/>
                </a:schemeClr>
              </a:solidFill>
              <a:latin typeface="宋体" panose="02010600030101010101" pitchFamily="2" charset="-122"/>
              <a:ea typeface="宋体" panose="02010600030101010101" pitchFamily="2" charset="-122"/>
            </a:endParaRPr>
          </a:p>
          <a:p>
            <a:pPr>
              <a:lnSpc>
                <a:spcPct val="150000"/>
              </a:lnSpc>
            </a:pPr>
            <a:r>
              <a:rPr lang="zh-CN" altLang="en-US" sz="2400" b="1" dirty="0">
                <a:solidFill>
                  <a:schemeClr val="tx1">
                    <a:lumMod val="85000"/>
                    <a:lumOff val="15000"/>
                  </a:schemeClr>
                </a:solidFill>
                <a:latin typeface="宋体" panose="02010600030101010101" pitchFamily="2" charset="-122"/>
                <a:ea typeface="宋体" panose="02010600030101010101" pitchFamily="2" charset="-122"/>
              </a:rPr>
              <a:t>本学期进展：</a:t>
            </a:r>
            <a:endParaRPr lang="en-US" altLang="zh-CN" sz="20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预注册报告</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1</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：结果撰写</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2</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：数据收集、数据分析、结果撰写</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900" b="1" dirty="0">
                <a:solidFill>
                  <a:schemeClr val="tx1">
                    <a:lumMod val="65000"/>
                    <a:lumOff val="35000"/>
                  </a:schemeClr>
                </a:solidFill>
                <a:latin typeface="宋体" panose="02010600030101010101" pitchFamily="2" charset="-122"/>
                <a:ea typeface="宋体" panose="02010600030101010101" pitchFamily="2" charset="-122"/>
              </a:rPr>
              <a:t>3</a:t>
            </a: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：程序编写、预实验、数据收集、数据分析</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a:lnSpc>
                <a:spcPct val="150000"/>
              </a:lnSpc>
            </a:pPr>
            <a:r>
              <a:rPr lang="en-US" altLang="zh-CN" sz="2000" b="1" dirty="0">
                <a:solidFill>
                  <a:schemeClr val="tx1">
                    <a:lumMod val="85000"/>
                    <a:lumOff val="15000"/>
                  </a:schemeClr>
                </a:solidFill>
                <a:latin typeface="宋体" panose="02010600030101010101" pitchFamily="2" charset="-122"/>
                <a:ea typeface="宋体" panose="02010600030101010101" pitchFamily="2" charset="-122"/>
              </a:rPr>
              <a:t>TO DO</a:t>
            </a:r>
            <a:r>
              <a:rPr lang="zh-CN" altLang="en-US" sz="2000" b="1" dirty="0">
                <a:solidFill>
                  <a:schemeClr val="tx1">
                    <a:lumMod val="85000"/>
                    <a:lumOff val="15000"/>
                  </a:schemeClr>
                </a:solidFill>
                <a:latin typeface="宋体" panose="02010600030101010101" pitchFamily="2" charset="-122"/>
                <a:ea typeface="宋体" panose="02010600030101010101" pitchFamily="2" charset="-122"/>
              </a:rPr>
              <a:t>：</a:t>
            </a:r>
            <a:endParaRPr lang="en-US" altLang="zh-CN" sz="20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1900" b="1" dirty="0">
                <a:solidFill>
                  <a:schemeClr val="tx1">
                    <a:lumMod val="65000"/>
                    <a:lumOff val="35000"/>
                  </a:schemeClr>
                </a:solidFill>
                <a:latin typeface="宋体" panose="02010600030101010101" pitchFamily="2" charset="-122"/>
                <a:ea typeface="宋体" panose="02010600030101010101" pitchFamily="2" charset="-122"/>
              </a:rPr>
              <a:t>毕业论文撰写</a:t>
            </a:r>
            <a:endParaRPr lang="en-US" altLang="zh-CN" sz="1900" b="1" dirty="0">
              <a:solidFill>
                <a:schemeClr val="tx1">
                  <a:lumMod val="65000"/>
                  <a:lumOff val="35000"/>
                </a:schemeClr>
              </a:solidFill>
              <a:latin typeface="宋体" panose="02010600030101010101" pitchFamily="2" charset="-122"/>
              <a:ea typeface="宋体" panose="02010600030101010101" pitchFamily="2" charset="-122"/>
            </a:endParaRPr>
          </a:p>
          <a:p>
            <a:pPr>
              <a:lnSpc>
                <a:spcPct val="150000"/>
              </a:lnSpc>
            </a:pPr>
            <a:endParaRPr lang="en-US" altLang="zh-CN" sz="1800" b="1" dirty="0">
              <a:solidFill>
                <a:schemeClr val="tx1">
                  <a:lumMod val="85000"/>
                  <a:lumOff val="15000"/>
                </a:schemeClr>
              </a:solidFill>
              <a:latin typeface="宋体" panose="02010600030101010101" pitchFamily="2" charset="-122"/>
              <a:ea typeface="宋体" panose="02010600030101010101" pitchFamily="2" charset="-122"/>
            </a:endParaRPr>
          </a:p>
          <a:p>
            <a:pPr>
              <a:lnSpc>
                <a:spcPct val="150000"/>
              </a:lnSpc>
            </a:pPr>
            <a:endParaRPr lang="zh-CN" altLang="en-US" sz="2300" b="1" dirty="0">
              <a:solidFill>
                <a:schemeClr val="tx1">
                  <a:lumMod val="75000"/>
                  <a:lumOff val="2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06459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9838-3BFE-F552-16C2-2BD6063FD7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9B35036-8468-C7FC-EC4B-62099A610B6E}"/>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Part3</a:t>
            </a:r>
            <a:r>
              <a:rPr lang="zh-CN" altLang="en-US" dirty="0">
                <a:latin typeface="宋体" panose="02010600030101010101" pitchFamily="2" charset="-122"/>
                <a:ea typeface="宋体" panose="02010600030101010101" pitchFamily="2" charset="-122"/>
              </a:rPr>
              <a:t>：文件夹管理</a:t>
            </a:r>
          </a:p>
        </p:txBody>
      </p:sp>
    </p:spTree>
    <p:extLst>
      <p:ext uri="{BB962C8B-B14F-4D97-AF65-F5344CB8AC3E}">
        <p14:creationId xmlns:p14="http://schemas.microsoft.com/office/powerpoint/2010/main" val="303425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9355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376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02EA-3354-E0CE-CFAA-F884A1963F0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097F6BA-D5D6-D1DE-8744-60990391252C}"/>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Part4</a:t>
            </a:r>
            <a:r>
              <a:rPr lang="zh-CN" altLang="en-US" dirty="0">
                <a:latin typeface="宋体" panose="02010600030101010101" pitchFamily="2" charset="-122"/>
                <a:ea typeface="宋体" panose="02010600030101010101" pitchFamily="2" charset="-122"/>
              </a:rPr>
              <a:t>：诚邀新成员加入</a:t>
            </a:r>
          </a:p>
        </p:txBody>
      </p:sp>
    </p:spTree>
    <p:extLst>
      <p:ext uri="{BB962C8B-B14F-4D97-AF65-F5344CB8AC3E}">
        <p14:creationId xmlns:p14="http://schemas.microsoft.com/office/powerpoint/2010/main" val="20952057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2.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3.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1291</TotalTime>
  <Words>390</Words>
  <Application>Microsoft Office PowerPoint</Application>
  <PresentationFormat>宽屏</PresentationFormat>
  <Paragraphs>31</Paragraphs>
  <Slides>9</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9</vt:i4>
      </vt:variant>
    </vt:vector>
  </HeadingPairs>
  <TitlesOfParts>
    <vt:vector size="17" baseType="lpstr">
      <vt:lpstr>等线</vt:lpstr>
      <vt:lpstr>等线 Light</vt:lpstr>
      <vt:lpstr>宋体</vt:lpstr>
      <vt:lpstr>微软雅黑</vt:lpstr>
      <vt:lpstr>Arial</vt:lpstr>
      <vt:lpstr>Wingdings</vt:lpstr>
      <vt:lpstr>Office 主题​​</vt:lpstr>
      <vt:lpstr>1_Office 主题​​</vt:lpstr>
      <vt:lpstr>自我优势效应何时出现？ </vt:lpstr>
      <vt:lpstr>Part1：项目简介</vt:lpstr>
      <vt:lpstr>研究问题&amp;目标</vt:lpstr>
      <vt:lpstr>Part2：研究进展</vt:lpstr>
      <vt:lpstr>研究进展&amp;TO DO</vt:lpstr>
      <vt:lpstr>Part3：文件夹管理</vt:lpstr>
      <vt:lpstr>PowerPoint 演示文稿</vt:lpstr>
      <vt:lpstr>PowerPoint 演示文稿</vt:lpstr>
      <vt:lpstr>Part4：诚邀新成员加入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Jiaqi</dc:creator>
  <cp:lastModifiedBy>Jiaqi Wu</cp:lastModifiedBy>
  <cp:revision>148</cp:revision>
  <dcterms:created xsi:type="dcterms:W3CDTF">2023-07-04T04:51:35Z</dcterms:created>
  <dcterms:modified xsi:type="dcterms:W3CDTF">2026-01-18T07:21:54Z</dcterms:modified>
</cp:coreProperties>
</file>